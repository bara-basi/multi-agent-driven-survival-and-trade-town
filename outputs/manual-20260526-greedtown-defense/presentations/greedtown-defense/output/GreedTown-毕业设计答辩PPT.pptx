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2BFFF-BBE3-745C-6556-B6E2E7B2F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0E94A-D986-BA51-3C75-EEA53DC51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34B01-2075-8030-CB0B-A58FBA75B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39988-9E2B-456D-B843-3696A41D5ED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69838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AECFBC6-17DB-4974-9E56-0AA66F5D36CC}"/>
              </a:ext>
            </a:extLst>
          </p:cNvPr>
          <p:cNvSpPr>
            <a:spLocks noGrp="1"/>
          </p:cNvSpPr>
          <p:nvPr/>
        </p:nvSpPr>
        <p:spPr>
          <a:xfrm>
            <a:off x="1095408" y="1187492"/>
            <a:ext cx="7239000" cy="4476750"/>
          </a:xfrm>
          <a:prstGeom prst="rect">
            <a:avLst/>
          </a:prstGeom>
          <a:solidFill>
            <a:srgbClr val="FFFFFF">
              <a:alpha val="80000"/>
            </a:srgbClr>
          </a:solidFill>
          <a:ln w="11430">
            <a:solidFill>
              <a:srgbClr val="D4B57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E29363-AC43-40D8-AF73-00B541961355}"/>
              </a:ext>
            </a:extLst>
          </p:cNvPr>
          <p:cNvSpPr>
            <a:spLocks noGrp="1"/>
          </p:cNvSpPr>
          <p:nvPr/>
        </p:nvSpPr>
        <p:spPr>
          <a:xfrm>
            <a:off x="1095408" y="1187492"/>
            <a:ext cx="133350" cy="44767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14AF83-C15D-4351-858C-BCFCF977C8E9}"/>
              </a:ext>
            </a:extLst>
          </p:cNvPr>
          <p:cNvSpPr>
            <a:spLocks noGrp="1"/>
          </p:cNvSpPr>
          <p:nvPr/>
        </p:nvSpPr>
        <p:spPr>
          <a:xfrm>
            <a:off x="1486522" y="1491904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毕业设计答辩</a:t>
            </a:r>
            <a:endParaRPr sz="1800" b="1" dirty="0">
              <a:solidFill>
                <a:srgbClr val="A3403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163C6D-24B2-4397-A298-42439712A5FC}"/>
              </a:ext>
            </a:extLst>
          </p:cNvPr>
          <p:cNvSpPr>
            <a:spLocks noGrp="1"/>
          </p:cNvSpPr>
          <p:nvPr/>
        </p:nvSpPr>
        <p:spPr>
          <a:xfrm>
            <a:off x="1476408" y="1949492"/>
            <a:ext cx="61912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>
              <a:defRPr sz="26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GreedTown：</a:t>
            </a:r>
            <a:r>
              <a:rPr lang="en-US" altLang="zh-CN" sz="2625" dirty="0" err="1"/>
              <a:t>AI</a:t>
            </a:r>
            <a:r>
              <a:rPr lang="zh-CN" altLang="en-US" sz="2625" dirty="0"/>
              <a:t>智能体驱动的</a:t>
            </a:r>
            <a:endParaRPr lang="en-US" altLang="zh-CN" sz="2625" dirty="0"/>
          </a:p>
          <a:p>
            <a:pPr>
              <a:defRPr sz="26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625" dirty="0"/>
              <a:t>虚拟小镇生存与贸易模拟游戏</a:t>
            </a:r>
            <a:endParaRPr sz="26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9F3DBD-0C1F-4437-BC36-003B248DC22D}"/>
              </a:ext>
            </a:extLst>
          </p:cNvPr>
          <p:cNvSpPr>
            <a:spLocks noGrp="1"/>
          </p:cNvSpPr>
          <p:nvPr/>
        </p:nvSpPr>
        <p:spPr>
          <a:xfrm>
            <a:off x="1514508" y="3187742"/>
            <a:ext cx="571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从 AI </a:t>
            </a:r>
            <a:r>
              <a:rPr sz="1500" b="1" dirty="0" err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自主决策到人机经济博弈的闭环仿真</a:t>
            </a:r>
            <a:endParaRPr sz="1500" b="1" dirty="0">
              <a:solidFill>
                <a:srgbClr val="355F4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38398F-8D31-4492-BF1C-53BEDC6B2A73}"/>
              </a:ext>
            </a:extLst>
          </p:cNvPr>
          <p:cNvSpPr>
            <a:spLocks noGrp="1"/>
          </p:cNvSpPr>
          <p:nvPr/>
        </p:nvSpPr>
        <p:spPr>
          <a:xfrm>
            <a:off x="1533558" y="381639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答辩人</a:t>
            </a:r>
            <a:endParaRPr sz="1125" b="1" dirty="0">
              <a:solidFill>
                <a:schemeClr val="bg2">
                  <a:lumMod val="1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615EEB1-A14B-4A73-9724-D675B0021128}"/>
              </a:ext>
            </a:extLst>
          </p:cNvPr>
          <p:cNvSpPr>
            <a:spLocks noGrp="1"/>
          </p:cNvSpPr>
          <p:nvPr/>
        </p:nvSpPr>
        <p:spPr>
          <a:xfrm>
            <a:off x="2524158" y="3816392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王益</a:t>
            </a:r>
            <a:r>
              <a:rPr lang="en-US" altLang="zh-CN" sz="1125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				</a:t>
            </a:r>
            <a:endParaRPr sz="1125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CF611F-7902-45CD-8604-0DF6653ECED8}"/>
              </a:ext>
            </a:extLst>
          </p:cNvPr>
          <p:cNvSpPr>
            <a:spLocks noGrp="1"/>
          </p:cNvSpPr>
          <p:nvPr/>
        </p:nvSpPr>
        <p:spPr>
          <a:xfrm>
            <a:off x="1533558" y="4149767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专业</a:t>
            </a:r>
            <a:endParaRPr sz="1125" b="1" dirty="0">
              <a:solidFill>
                <a:schemeClr val="bg2">
                  <a:lumMod val="1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6630DF-51B3-43E1-B98A-E3452F97F312}"/>
              </a:ext>
            </a:extLst>
          </p:cNvPr>
          <p:cNvSpPr>
            <a:spLocks noGrp="1"/>
          </p:cNvSpPr>
          <p:nvPr/>
        </p:nvSpPr>
        <p:spPr>
          <a:xfrm>
            <a:off x="2524158" y="4149767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人工智能</a:t>
            </a:r>
            <a:endParaRPr sz="1125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AF40FF-1F36-450F-AD5F-6889F0AA1072}"/>
              </a:ext>
            </a:extLst>
          </p:cNvPr>
          <p:cNvSpPr>
            <a:spLocks noGrp="1"/>
          </p:cNvSpPr>
          <p:nvPr/>
        </p:nvSpPr>
        <p:spPr>
          <a:xfrm>
            <a:off x="1533558" y="448314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导师</a:t>
            </a:r>
            <a:endParaRPr sz="1125" b="1" dirty="0">
              <a:solidFill>
                <a:schemeClr val="bg2">
                  <a:lumMod val="1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D15FD8-F18B-42D1-8040-D7377E64144A}"/>
              </a:ext>
            </a:extLst>
          </p:cNvPr>
          <p:cNvSpPr>
            <a:spLocks noGrp="1"/>
          </p:cNvSpPr>
          <p:nvPr/>
        </p:nvSpPr>
        <p:spPr>
          <a:xfrm>
            <a:off x="2524158" y="4483142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艾丽华</a:t>
            </a:r>
            <a:endParaRPr sz="1125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308A69-CE61-4930-BCE5-DE34C8C25837}"/>
              </a:ext>
            </a:extLst>
          </p:cNvPr>
          <p:cNvSpPr>
            <a:spLocks noGrp="1"/>
          </p:cNvSpPr>
          <p:nvPr/>
        </p:nvSpPr>
        <p:spPr>
          <a:xfrm>
            <a:off x="1533558" y="4816517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学院</a:t>
            </a:r>
            <a:endParaRPr sz="1125" b="1" dirty="0">
              <a:solidFill>
                <a:schemeClr val="bg2">
                  <a:lumMod val="1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099A12A-BD68-4603-AEFF-8732F6BDAE39}"/>
              </a:ext>
            </a:extLst>
          </p:cNvPr>
          <p:cNvSpPr>
            <a:spLocks noGrp="1"/>
          </p:cNvSpPr>
          <p:nvPr/>
        </p:nvSpPr>
        <p:spPr>
          <a:xfrm>
            <a:off x="2524158" y="4816517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计算机与人工智能学院</a:t>
            </a:r>
            <a:r>
              <a:rPr lang="en-US" altLang="zh-CN" sz="1125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125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16BF019-374A-540D-B799-216FBD785D0D}"/>
              </a:ext>
            </a:extLst>
          </p:cNvPr>
          <p:cNvSpPr>
            <a:spLocks noGrp="1"/>
          </p:cNvSpPr>
          <p:nvPr/>
        </p:nvSpPr>
        <p:spPr>
          <a:xfrm>
            <a:off x="1533558" y="5150654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1" dirty="0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项目仓库</a:t>
            </a:r>
            <a:endParaRPr sz="1125" b="1" dirty="0">
              <a:solidFill>
                <a:schemeClr val="bg2">
                  <a:lumMod val="1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F8C4B40-7DEA-43AA-8D6E-A62B60E05730}"/>
              </a:ext>
            </a:extLst>
          </p:cNvPr>
          <p:cNvSpPr>
            <a:spLocks noGrp="1"/>
          </p:cNvSpPr>
          <p:nvPr/>
        </p:nvSpPr>
        <p:spPr>
          <a:xfrm>
            <a:off x="2524158" y="5150653"/>
            <a:ext cx="4880610" cy="27393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25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https://github.com/Bara-basi/multi-agent-ai-town-simulator</a:t>
            </a:r>
            <a:endParaRPr sz="1125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1D0CFDB-96FB-23DA-246D-E81AA49F90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816" y="1566672"/>
            <a:ext cx="3530230" cy="258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131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8C53B73-3356-41F7-A723-E5E505C31564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6606F8-ADF7-44C0-BC95-7544FBB5EC2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915C05-8EBB-489A-A4E3-2F0F6D9577A6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目录</a:t>
            </a:r>
            <a:r>
              <a:rPr lang="zh-CN" altLang="en-US" sz="217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sz="217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B35834-202D-43C0-98A8-3AAFC67B0945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系统功能总览</a:t>
            </a:r>
            <a:endParaRPr sz="1125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76A5B0-7DD0-4903-AB76-1C284E76EA33}"/>
              </a:ext>
            </a:extLst>
          </p:cNvPr>
          <p:cNvSpPr>
            <a:spLocks noGrp="1"/>
          </p:cNvSpPr>
          <p:nvPr/>
        </p:nvSpPr>
        <p:spPr>
          <a:xfrm>
            <a:off x="876300" y="1562100"/>
            <a:ext cx="2324100" cy="1352550"/>
          </a:xfrm>
          <a:prstGeom prst="rect">
            <a:avLst/>
          </a:prstGeom>
          <a:solidFill>
            <a:srgbClr val="FFFFFF">
              <a:alpha val="90196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8A193B-7F4A-4FD2-B964-972DF092A6E3}"/>
              </a:ext>
            </a:extLst>
          </p:cNvPr>
          <p:cNvSpPr>
            <a:spLocks noGrp="1"/>
          </p:cNvSpPr>
          <p:nvPr/>
        </p:nvSpPr>
        <p:spPr>
          <a:xfrm>
            <a:off x="876300" y="1562100"/>
            <a:ext cx="2324100" cy="7620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E4172B4-51CA-4132-826E-0447E11FDB66}"/>
              </a:ext>
            </a:extLst>
          </p:cNvPr>
          <p:cNvSpPr>
            <a:spLocks noGrp="1"/>
          </p:cNvSpPr>
          <p:nvPr/>
        </p:nvSpPr>
        <p:spPr>
          <a:xfrm>
            <a:off x="1066800" y="18097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571750" y="1780961"/>
            <a:ext cx="400050" cy="36237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073A228-423C-4E64-9CC9-7E3462207697}"/>
              </a:ext>
            </a:extLst>
          </p:cNvPr>
          <p:cNvSpPr>
            <a:spLocks noGrp="1"/>
          </p:cNvSpPr>
          <p:nvPr/>
        </p:nvSpPr>
        <p:spPr>
          <a:xfrm>
            <a:off x="876300" y="2288286"/>
            <a:ext cx="2533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系统目标</a:t>
            </a:r>
            <a:r>
              <a:rPr lang="zh-CN" altLang="en-US" sz="172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72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核心玩法</a:t>
            </a:r>
            <a:endParaRPr lang="en-US"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（浅谈）</a:t>
            </a:r>
            <a:endParaRPr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2AC886-43ED-42FE-B5E2-10320DEF3EF8}"/>
              </a:ext>
            </a:extLst>
          </p:cNvPr>
          <p:cNvSpPr>
            <a:spLocks noGrp="1"/>
          </p:cNvSpPr>
          <p:nvPr/>
        </p:nvSpPr>
        <p:spPr>
          <a:xfrm>
            <a:off x="3619500" y="1562100"/>
            <a:ext cx="2324100" cy="1352550"/>
          </a:xfrm>
          <a:prstGeom prst="rect">
            <a:avLst/>
          </a:prstGeom>
          <a:solidFill>
            <a:srgbClr val="FFFFFF">
              <a:alpha val="90196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55F191-77E9-4BEC-8CE5-E1C081236FE2}"/>
              </a:ext>
            </a:extLst>
          </p:cNvPr>
          <p:cNvSpPr>
            <a:spLocks noGrp="1"/>
          </p:cNvSpPr>
          <p:nvPr/>
        </p:nvSpPr>
        <p:spPr>
          <a:xfrm>
            <a:off x="3619500" y="1562100"/>
            <a:ext cx="2324100" cy="76200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C425571-6398-489B-97FB-7CEB09752ED6}"/>
              </a:ext>
            </a:extLst>
          </p:cNvPr>
          <p:cNvSpPr>
            <a:spLocks noGrp="1"/>
          </p:cNvSpPr>
          <p:nvPr/>
        </p:nvSpPr>
        <p:spPr>
          <a:xfrm>
            <a:off x="3810000" y="18097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314950" y="1781305"/>
            <a:ext cx="400050" cy="36168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297D1DC5-A331-494A-BF9F-E11F2AC9B8D0}"/>
              </a:ext>
            </a:extLst>
          </p:cNvPr>
          <p:cNvSpPr>
            <a:spLocks noGrp="1"/>
          </p:cNvSpPr>
          <p:nvPr/>
        </p:nvSpPr>
        <p:spPr>
          <a:xfrm>
            <a:off x="3829050" y="226695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系统</a:t>
            </a:r>
            <a:r>
              <a:rPr sz="172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总体架构</a:t>
            </a:r>
            <a:endParaRPr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8967BA0-D337-4D51-8064-6F3FA2D2FB24}"/>
              </a:ext>
            </a:extLst>
          </p:cNvPr>
          <p:cNvSpPr>
            <a:spLocks noGrp="1"/>
          </p:cNvSpPr>
          <p:nvPr/>
        </p:nvSpPr>
        <p:spPr>
          <a:xfrm>
            <a:off x="6362700" y="1562100"/>
            <a:ext cx="2324100" cy="1352550"/>
          </a:xfrm>
          <a:prstGeom prst="rect">
            <a:avLst/>
          </a:prstGeom>
          <a:solidFill>
            <a:srgbClr val="FFFFFF">
              <a:alpha val="90196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286F2AD-EF4B-4653-A547-8753473B626D}"/>
              </a:ext>
            </a:extLst>
          </p:cNvPr>
          <p:cNvSpPr>
            <a:spLocks noGrp="1"/>
          </p:cNvSpPr>
          <p:nvPr/>
        </p:nvSpPr>
        <p:spPr>
          <a:xfrm>
            <a:off x="6362700" y="1562100"/>
            <a:ext cx="2324100" cy="76200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86B4F41-D718-43FA-875E-02FB1CEAC580}"/>
              </a:ext>
            </a:extLst>
          </p:cNvPr>
          <p:cNvSpPr>
            <a:spLocks noGrp="1"/>
          </p:cNvSpPr>
          <p:nvPr/>
        </p:nvSpPr>
        <p:spPr>
          <a:xfrm>
            <a:off x="6553200" y="18097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059877" y="1771650"/>
            <a:ext cx="396596" cy="3810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8E6CFD9B-83ED-426F-A1BA-A10DFA48788D}"/>
              </a:ext>
            </a:extLst>
          </p:cNvPr>
          <p:cNvSpPr>
            <a:spLocks noGrp="1"/>
          </p:cNvSpPr>
          <p:nvPr/>
        </p:nvSpPr>
        <p:spPr>
          <a:xfrm>
            <a:off x="6572250" y="226695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流程闭环</a:t>
            </a:r>
            <a:endParaRPr lang="en-US"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（以回合为单位）</a:t>
            </a:r>
            <a:endParaRPr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9043FB6-7056-4E11-A3FD-AE0C7420F8AA}"/>
              </a:ext>
            </a:extLst>
          </p:cNvPr>
          <p:cNvSpPr>
            <a:spLocks noGrp="1"/>
          </p:cNvSpPr>
          <p:nvPr/>
        </p:nvSpPr>
        <p:spPr>
          <a:xfrm>
            <a:off x="9105900" y="1562100"/>
            <a:ext cx="2324100" cy="1352550"/>
          </a:xfrm>
          <a:prstGeom prst="rect">
            <a:avLst/>
          </a:prstGeom>
          <a:solidFill>
            <a:srgbClr val="FFFFFF">
              <a:alpha val="90196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2BEA477-A62F-4197-B632-8F03D6DC7B1D}"/>
              </a:ext>
            </a:extLst>
          </p:cNvPr>
          <p:cNvSpPr>
            <a:spLocks noGrp="1"/>
          </p:cNvSpPr>
          <p:nvPr/>
        </p:nvSpPr>
        <p:spPr>
          <a:xfrm>
            <a:off x="9105900" y="1562100"/>
            <a:ext cx="2324100" cy="76200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00C8FA8-405F-4676-BBDD-CD7963A1C5A4}"/>
              </a:ext>
            </a:extLst>
          </p:cNvPr>
          <p:cNvSpPr>
            <a:spLocks noGrp="1"/>
          </p:cNvSpPr>
          <p:nvPr/>
        </p:nvSpPr>
        <p:spPr>
          <a:xfrm>
            <a:off x="9296400" y="18097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0876502" y="1771650"/>
            <a:ext cx="249746" cy="38100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0B37F247-7FBD-40C4-B8D0-19530996709F}"/>
              </a:ext>
            </a:extLst>
          </p:cNvPr>
          <p:cNvSpPr>
            <a:spLocks noGrp="1"/>
          </p:cNvSpPr>
          <p:nvPr/>
        </p:nvSpPr>
        <p:spPr>
          <a:xfrm>
            <a:off x="9315450" y="226695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Agent </a:t>
            </a:r>
            <a:r>
              <a:rPr sz="172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决策链</a:t>
            </a:r>
            <a:endParaRPr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设计</a:t>
            </a:r>
            <a:endParaRPr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C6F7896-CF41-43A6-BF58-95DF8151260F}"/>
              </a:ext>
            </a:extLst>
          </p:cNvPr>
          <p:cNvSpPr>
            <a:spLocks noGrp="1"/>
          </p:cNvSpPr>
          <p:nvPr/>
        </p:nvSpPr>
        <p:spPr>
          <a:xfrm>
            <a:off x="876300" y="3638550"/>
            <a:ext cx="2324100" cy="1352550"/>
          </a:xfrm>
          <a:prstGeom prst="rect">
            <a:avLst/>
          </a:prstGeom>
          <a:solidFill>
            <a:srgbClr val="FFFFFF">
              <a:alpha val="90196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9A8ADBD-46F7-4653-8E3A-815EAB4EA1F8}"/>
              </a:ext>
            </a:extLst>
          </p:cNvPr>
          <p:cNvSpPr>
            <a:spLocks noGrp="1"/>
          </p:cNvSpPr>
          <p:nvPr/>
        </p:nvSpPr>
        <p:spPr>
          <a:xfrm>
            <a:off x="876300" y="3638550"/>
            <a:ext cx="2324100" cy="7620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D40B4DD-4519-46E6-A8D3-D07D328EB4FD}"/>
              </a:ext>
            </a:extLst>
          </p:cNvPr>
          <p:cNvSpPr>
            <a:spLocks noGrp="1"/>
          </p:cNvSpPr>
          <p:nvPr/>
        </p:nvSpPr>
        <p:spPr>
          <a:xfrm>
            <a:off x="1066800" y="388620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575097" y="3848100"/>
            <a:ext cx="393357" cy="381000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E82C5EBC-45E5-42B1-86F3-F2974520C656}"/>
              </a:ext>
            </a:extLst>
          </p:cNvPr>
          <p:cNvSpPr>
            <a:spLocks noGrp="1"/>
          </p:cNvSpPr>
          <p:nvPr/>
        </p:nvSpPr>
        <p:spPr>
          <a:xfrm>
            <a:off x="1085850" y="434340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动作系统与</a:t>
            </a:r>
            <a:endParaRPr lang="zh-CN" altLang="en-US"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动作空间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0E337F7-BCEF-4EE5-B764-15229F666C49}"/>
              </a:ext>
            </a:extLst>
          </p:cNvPr>
          <p:cNvSpPr>
            <a:spLocks noGrp="1"/>
          </p:cNvSpPr>
          <p:nvPr/>
        </p:nvSpPr>
        <p:spPr>
          <a:xfrm>
            <a:off x="3619500" y="3638550"/>
            <a:ext cx="2324100" cy="1352550"/>
          </a:xfrm>
          <a:prstGeom prst="rect">
            <a:avLst/>
          </a:prstGeom>
          <a:solidFill>
            <a:srgbClr val="FFFFFF">
              <a:alpha val="90196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1C99419-ACAE-4D17-9A8B-DAAA7BD84F80}"/>
              </a:ext>
            </a:extLst>
          </p:cNvPr>
          <p:cNvSpPr>
            <a:spLocks noGrp="1"/>
          </p:cNvSpPr>
          <p:nvPr/>
        </p:nvSpPr>
        <p:spPr>
          <a:xfrm>
            <a:off x="3619500" y="3638550"/>
            <a:ext cx="2324100" cy="76200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CFDEBF4-946E-49B9-BC0A-8E6048127212}"/>
              </a:ext>
            </a:extLst>
          </p:cNvPr>
          <p:cNvSpPr>
            <a:spLocks noGrp="1"/>
          </p:cNvSpPr>
          <p:nvPr/>
        </p:nvSpPr>
        <p:spPr>
          <a:xfrm>
            <a:off x="3810000" y="388620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5319760" y="3848100"/>
            <a:ext cx="390431" cy="381000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8CAFBED9-FA09-46EA-9654-7ACE999D079E}"/>
              </a:ext>
            </a:extLst>
          </p:cNvPr>
          <p:cNvSpPr>
            <a:spLocks noGrp="1"/>
          </p:cNvSpPr>
          <p:nvPr/>
        </p:nvSpPr>
        <p:spPr>
          <a:xfrm>
            <a:off x="6362700" y="3638550"/>
            <a:ext cx="2324100" cy="1352550"/>
          </a:xfrm>
          <a:prstGeom prst="rect">
            <a:avLst/>
          </a:prstGeom>
          <a:solidFill>
            <a:srgbClr val="FFFFFF">
              <a:alpha val="90196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BBB4C7D-9A02-4359-A639-75E04EC54C8B}"/>
              </a:ext>
            </a:extLst>
          </p:cNvPr>
          <p:cNvSpPr>
            <a:spLocks noGrp="1"/>
          </p:cNvSpPr>
          <p:nvPr/>
        </p:nvSpPr>
        <p:spPr>
          <a:xfrm>
            <a:off x="6362700" y="3638550"/>
            <a:ext cx="2324100" cy="76200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AE0E112-4221-4249-A647-95A3F0454929}"/>
              </a:ext>
            </a:extLst>
          </p:cNvPr>
          <p:cNvSpPr>
            <a:spLocks noGrp="1"/>
          </p:cNvSpPr>
          <p:nvPr/>
        </p:nvSpPr>
        <p:spPr>
          <a:xfrm>
            <a:off x="6553200" y="388620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8058150" y="3873325"/>
            <a:ext cx="400050" cy="330550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13C2B267-F237-462F-859A-7CCC74F43453}"/>
              </a:ext>
            </a:extLst>
          </p:cNvPr>
          <p:cNvSpPr>
            <a:spLocks noGrp="1"/>
          </p:cNvSpPr>
          <p:nvPr/>
        </p:nvSpPr>
        <p:spPr>
          <a:xfrm>
            <a:off x="3829050" y="4333875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经济系统</a:t>
            </a:r>
            <a:endParaRPr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E27188B-EBEF-436C-8C08-231227436622}"/>
              </a:ext>
            </a:extLst>
          </p:cNvPr>
          <p:cNvSpPr>
            <a:spLocks noGrp="1"/>
          </p:cNvSpPr>
          <p:nvPr/>
        </p:nvSpPr>
        <p:spPr>
          <a:xfrm>
            <a:off x="9105900" y="3638550"/>
            <a:ext cx="2324100" cy="1352550"/>
          </a:xfrm>
          <a:prstGeom prst="rect">
            <a:avLst/>
          </a:prstGeom>
          <a:solidFill>
            <a:srgbClr val="FFFFFF">
              <a:alpha val="90196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AAF2772-482A-44C6-BA6D-E050DD74157F}"/>
              </a:ext>
            </a:extLst>
          </p:cNvPr>
          <p:cNvSpPr>
            <a:spLocks noGrp="1"/>
          </p:cNvSpPr>
          <p:nvPr/>
        </p:nvSpPr>
        <p:spPr>
          <a:xfrm>
            <a:off x="9105900" y="3638550"/>
            <a:ext cx="2324100" cy="76200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50059AA-C74E-4921-B0B8-6AAA2E344559}"/>
              </a:ext>
            </a:extLst>
          </p:cNvPr>
          <p:cNvSpPr>
            <a:spLocks noGrp="1"/>
          </p:cNvSpPr>
          <p:nvPr/>
        </p:nvSpPr>
        <p:spPr>
          <a:xfrm>
            <a:off x="9296400" y="388620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0828618" y="3848100"/>
            <a:ext cx="345515" cy="381000"/>
          </a:xfrm>
          <a:prstGeom prst="rect">
            <a:avLst/>
          </a:prstGeom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E2AA58D3-CA01-498E-846E-06C79BEE650F}"/>
              </a:ext>
            </a:extLst>
          </p:cNvPr>
          <p:cNvSpPr>
            <a:spLocks noGrp="1"/>
          </p:cNvSpPr>
          <p:nvPr/>
        </p:nvSpPr>
        <p:spPr>
          <a:xfrm>
            <a:off x="6572250" y="4362625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72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Websoket</a:t>
            </a:r>
            <a:endParaRPr lang="en-US"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类</a:t>
            </a:r>
            <a:r>
              <a:rPr lang="en-US" altLang="zh-CN" sz="172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RPC</a:t>
            </a:r>
            <a:r>
              <a:rPr lang="zh-CN" altLang="en-US" sz="172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通信</a:t>
            </a:r>
            <a:endParaRPr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BC27DD5-11E6-4152-929F-3B7186BEACEB}"/>
              </a:ext>
            </a:extLst>
          </p:cNvPr>
          <p:cNvSpPr>
            <a:spLocks noGrp="1"/>
          </p:cNvSpPr>
          <p:nvPr/>
        </p:nvSpPr>
        <p:spPr>
          <a:xfrm>
            <a:off x="2419350" y="5505450"/>
            <a:ext cx="7391400" cy="552450"/>
          </a:xfrm>
          <a:prstGeom prst="rect">
            <a:avLst/>
          </a:prstGeom>
          <a:solidFill>
            <a:schemeClr val="bg1">
              <a:alpha val="90980"/>
            </a:schemeClr>
          </a:solidFill>
          <a:ln w="11430">
            <a:solidFill>
              <a:srgbClr val="C6963D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8AA2478-0E32-4374-9050-C99D2475A963}"/>
              </a:ext>
            </a:extLst>
          </p:cNvPr>
          <p:cNvSpPr>
            <a:spLocks noGrp="1"/>
          </p:cNvSpPr>
          <p:nvPr/>
        </p:nvSpPr>
        <p:spPr>
          <a:xfrm>
            <a:off x="2344420" y="5610225"/>
            <a:ext cx="7353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00" dirty="0">
                <a:latin typeface="Microsoft YaHei"/>
                <a:ea typeface="Microsoft YaHei"/>
                <a:cs typeface="Microsoft YaHei"/>
              </a:rPr>
              <a:t>关键难点：如何让大模型</a:t>
            </a:r>
            <a:r>
              <a:rPr lang="en-US" altLang="zh-CN" sz="2000" dirty="0">
                <a:latin typeface="Microsoft YaHei"/>
                <a:ea typeface="Microsoft YaHei"/>
                <a:cs typeface="Microsoft YaHei"/>
              </a:rPr>
              <a:t>Agent</a:t>
            </a:r>
            <a:r>
              <a:rPr lang="zh-CN" altLang="en-US" sz="2000" dirty="0">
                <a:latin typeface="Microsoft YaHei"/>
                <a:ea typeface="Microsoft YaHei"/>
                <a:cs typeface="Microsoft YaHei"/>
              </a:rPr>
              <a:t>在规则世界里稳定行动</a:t>
            </a:r>
          </a:p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765F6D2-A38B-4C04-0A1E-66A1C92EE417}"/>
              </a:ext>
            </a:extLst>
          </p:cNvPr>
          <p:cNvSpPr>
            <a:spLocks noGrp="1"/>
          </p:cNvSpPr>
          <p:nvPr/>
        </p:nvSpPr>
        <p:spPr>
          <a:xfrm>
            <a:off x="9315450" y="4314825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  <a:endParaRPr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61732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8265165-B9F5-430A-9029-12E1B26D6CE5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4B1E4A-DB99-4EF7-B0DE-8FC050A102D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DC6AFD-473D-4339-AFFA-2898BAB9E8F1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系统目标与核心玩法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794025-451F-4E65-B434-CEB0A70A0CD4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玩家经营唯一商店，四个 AI Agent 自主生存、消费、交易与投机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118A6D-4F12-4D8D-85EE-91A8DA3C680A}"/>
              </a:ext>
            </a:extLst>
          </p:cNvPr>
          <p:cNvSpPr>
            <a:spLocks noGrp="1"/>
          </p:cNvSpPr>
          <p:nvPr/>
        </p:nvSpPr>
        <p:spPr>
          <a:xfrm>
            <a:off x="7154418" y="1972056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胜负条件</a:t>
            </a:r>
            <a:endParaRPr sz="1875" b="1" dirty="0">
              <a:solidFill>
                <a:srgbClr val="A3403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EA6AB9-1359-468A-AFCD-5BDC5DA785CE}"/>
              </a:ext>
            </a:extLst>
          </p:cNvPr>
          <p:cNvSpPr>
            <a:spLocks noGrp="1"/>
          </p:cNvSpPr>
          <p:nvPr/>
        </p:nvSpPr>
        <p:spPr>
          <a:xfrm>
            <a:off x="6582918" y="2619756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2DF28C-9F53-4B24-9F66-ACAD084EA455}"/>
              </a:ext>
            </a:extLst>
          </p:cNvPr>
          <p:cNvSpPr>
            <a:spLocks noGrp="1"/>
          </p:cNvSpPr>
          <p:nvPr/>
        </p:nvSpPr>
        <p:spPr>
          <a:xfrm>
            <a:off x="6792468" y="2543556"/>
            <a:ext cx="3790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玩家资金达到</a:t>
            </a:r>
            <a:r>
              <a:rPr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 10000：</a:t>
            </a:r>
            <a:r>
              <a:rPr sz="1600" b="0" dirty="0">
                <a:solidFill>
                  <a:schemeClr val="accent6"/>
                </a:solidFill>
                <a:latin typeface="Microsoft YaHei"/>
                <a:ea typeface="Microsoft YaHei"/>
                <a:cs typeface="Microsoft YaHei"/>
              </a:rPr>
              <a:t>胜利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75A5A10-66BF-4178-98F8-DB0157E7453D}"/>
              </a:ext>
            </a:extLst>
          </p:cNvPr>
          <p:cNvSpPr>
            <a:spLocks noGrp="1"/>
          </p:cNvSpPr>
          <p:nvPr/>
        </p:nvSpPr>
        <p:spPr>
          <a:xfrm>
            <a:off x="6582918" y="3076956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45A359-D527-4B02-8726-C1C411D09775}"/>
              </a:ext>
            </a:extLst>
          </p:cNvPr>
          <p:cNvSpPr>
            <a:spLocks noGrp="1"/>
          </p:cNvSpPr>
          <p:nvPr/>
        </p:nvSpPr>
        <p:spPr>
          <a:xfrm>
            <a:off x="6792468" y="3000756"/>
            <a:ext cx="3790950" cy="323850"/>
          </a:xfrm>
          <a:prstGeom prst="rect">
            <a:avLst/>
          </a:prstGeom>
          <a:solidFill>
            <a:srgbClr val="FF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>
              <a:defRPr sz="15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玩家坚持</a:t>
            </a:r>
            <a:r>
              <a:rPr lang="en-US" altLang="zh-CN" sz="160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100</a:t>
            </a:r>
            <a:r>
              <a:rPr lang="zh-CN" altLang="en-US" sz="160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回合：</a:t>
            </a:r>
            <a:r>
              <a:rPr lang="zh-CN" altLang="en-US" sz="1600" dirty="0">
                <a:solidFill>
                  <a:schemeClr val="accent6"/>
                </a:solidFill>
                <a:latin typeface="Microsoft YaHei"/>
                <a:ea typeface="Microsoft YaHei"/>
                <a:cs typeface="Microsoft YaHei"/>
              </a:rPr>
              <a:t>胜利</a:t>
            </a:r>
          </a:p>
          <a:p>
            <a:pPr algn="l">
              <a:defRPr sz="15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endParaRPr sz="1600" b="0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6F41F0-C020-48BD-8333-2A24CE987F1B}"/>
              </a:ext>
            </a:extLst>
          </p:cNvPr>
          <p:cNvSpPr>
            <a:spLocks noGrp="1"/>
          </p:cNvSpPr>
          <p:nvPr/>
        </p:nvSpPr>
        <p:spPr>
          <a:xfrm>
            <a:off x="6582918" y="3534156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78AA6E-8559-414F-BE63-C79B3B6E22A7}"/>
              </a:ext>
            </a:extLst>
          </p:cNvPr>
          <p:cNvSpPr>
            <a:spLocks noGrp="1"/>
          </p:cNvSpPr>
          <p:nvPr/>
        </p:nvSpPr>
        <p:spPr>
          <a:xfrm>
            <a:off x="6792468" y="3457956"/>
            <a:ext cx="3790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任一AI</a:t>
            </a:r>
            <a:r>
              <a:rPr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生存属性归零：</a:t>
            </a:r>
            <a:r>
              <a:rPr sz="1600" b="0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失败</a:t>
            </a:r>
            <a:endParaRPr sz="1600" b="0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1A364C-C872-423B-8D3F-27292BA34ABB}"/>
              </a:ext>
            </a:extLst>
          </p:cNvPr>
          <p:cNvSpPr>
            <a:spLocks noGrp="1"/>
          </p:cNvSpPr>
          <p:nvPr/>
        </p:nvSpPr>
        <p:spPr>
          <a:xfrm>
            <a:off x="6582918" y="3991356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5648EB-6E07-4076-915A-7FFFFC037926}"/>
              </a:ext>
            </a:extLst>
          </p:cNvPr>
          <p:cNvSpPr>
            <a:spLocks noGrp="1"/>
          </p:cNvSpPr>
          <p:nvPr/>
        </p:nvSpPr>
        <p:spPr>
          <a:xfrm>
            <a:off x="6792468" y="3915156"/>
            <a:ext cx="3790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任一AI</a:t>
            </a:r>
            <a:r>
              <a:rPr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 先达到10000：</a:t>
            </a:r>
            <a:r>
              <a:rPr sz="1600" b="0" dirty="0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D0B11C2-AF74-4F1F-AFB6-D66AE6CAB6B9}"/>
              </a:ext>
            </a:extLst>
          </p:cNvPr>
          <p:cNvSpPr>
            <a:spLocks noGrp="1"/>
          </p:cNvSpPr>
          <p:nvPr/>
        </p:nvSpPr>
        <p:spPr>
          <a:xfrm>
            <a:off x="2625852" y="1990915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核心</a:t>
            </a:r>
            <a:r>
              <a:rPr lang="zh-CN" altLang="en-US" sz="1725" b="1" dirty="0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玩法</a:t>
            </a:r>
            <a:endParaRPr sz="1725" b="1" dirty="0">
              <a:solidFill>
                <a:srgbClr val="355F4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CE7A8F2-F450-4870-97EC-019DAB906C49}"/>
              </a:ext>
            </a:extLst>
          </p:cNvPr>
          <p:cNvSpPr>
            <a:spLocks noGrp="1"/>
          </p:cNvSpPr>
          <p:nvPr/>
        </p:nvSpPr>
        <p:spPr>
          <a:xfrm>
            <a:off x="2338197" y="2552765"/>
            <a:ext cx="3886200" cy="56140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>
              <a:defRPr sz="14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 dirty="0"/>
              <a:t>主线</a:t>
            </a:r>
            <a:r>
              <a:rPr lang="zh-CN" altLang="en-US" sz="1600" dirty="0"/>
              <a:t>：四个</a:t>
            </a:r>
            <a:r>
              <a:rPr lang="en-US" altLang="zh-CN" sz="1600" dirty="0"/>
              <a:t>AI Agent</a:t>
            </a:r>
            <a:r>
              <a:rPr lang="zh-CN" altLang="en-US" sz="1600" dirty="0"/>
              <a:t>作为玩家参与市场贸易，相互博弈，优先保障生存，然后获利并获胜。</a:t>
            </a:r>
            <a:endParaRPr lang="en-US" altLang="zh-CN" sz="1600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96692" y="1891053"/>
            <a:ext cx="470800" cy="519153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3935480A-E620-8287-2218-9FE921053490}"/>
              </a:ext>
            </a:extLst>
          </p:cNvPr>
          <p:cNvSpPr>
            <a:spLocks noGrp="1"/>
          </p:cNvSpPr>
          <p:nvPr/>
        </p:nvSpPr>
        <p:spPr>
          <a:xfrm>
            <a:off x="2114548" y="2619756"/>
            <a:ext cx="85725" cy="8572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8583418-8062-9BE5-C0BF-BEC1052505DC}"/>
              </a:ext>
            </a:extLst>
          </p:cNvPr>
          <p:cNvSpPr>
            <a:spLocks noGrp="1"/>
          </p:cNvSpPr>
          <p:nvPr/>
        </p:nvSpPr>
        <p:spPr>
          <a:xfrm>
            <a:off x="2114547" y="3534155"/>
            <a:ext cx="85725" cy="8572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D3A71D4-AAC2-17A2-183D-9501813E43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070" y="1891053"/>
            <a:ext cx="492254" cy="519153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F987CB38-CAB9-34BC-EACB-D1175375A7E7}"/>
              </a:ext>
            </a:extLst>
          </p:cNvPr>
          <p:cNvSpPr>
            <a:spLocks noGrp="1"/>
          </p:cNvSpPr>
          <p:nvPr/>
        </p:nvSpPr>
        <p:spPr>
          <a:xfrm>
            <a:off x="2338197" y="3457956"/>
            <a:ext cx="3886200" cy="80905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>
              <a:defRPr sz="14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 dirty="0"/>
              <a:t>暗线</a:t>
            </a:r>
            <a:r>
              <a:rPr lang="zh-CN" altLang="en-US" sz="1600" dirty="0"/>
              <a:t>：人类玩家扮演商店店员 </a:t>
            </a:r>
            <a:r>
              <a:rPr lang="en-US" altLang="zh-CN" sz="1600" dirty="0"/>
              <a:t>NPC</a:t>
            </a:r>
            <a:r>
              <a:rPr lang="zh-CN" altLang="en-US" sz="1600" dirty="0"/>
              <a:t>，在 </a:t>
            </a:r>
            <a:r>
              <a:rPr lang="en-US" altLang="zh-CN" sz="1600" dirty="0"/>
              <a:t>AI </a:t>
            </a:r>
            <a:r>
              <a:rPr lang="zh-CN" altLang="en-US" sz="1600" dirty="0"/>
              <a:t>玩家不出局不获胜的前提下，通过进货、调价，暗中获利并获胜。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DA54A5F-93CB-AF4F-5FE7-86974DA6BF5E}"/>
              </a:ext>
            </a:extLst>
          </p:cNvPr>
          <p:cNvSpPr>
            <a:spLocks noGrp="1"/>
          </p:cNvSpPr>
          <p:nvPr/>
        </p:nvSpPr>
        <p:spPr>
          <a:xfrm>
            <a:off x="6579870" y="4399788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3F40072-1932-CB88-D395-6D368F85BB57}"/>
              </a:ext>
            </a:extLst>
          </p:cNvPr>
          <p:cNvSpPr>
            <a:spLocks noGrp="1"/>
          </p:cNvSpPr>
          <p:nvPr/>
        </p:nvSpPr>
        <p:spPr>
          <a:xfrm>
            <a:off x="6789420" y="4323588"/>
            <a:ext cx="3790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>
              <a:defRPr sz="15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玩家破产：</a:t>
            </a:r>
            <a:r>
              <a:rPr lang="zh-CN" altLang="en-US" sz="1600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失败</a:t>
            </a:r>
            <a:endParaRPr sz="1600" b="0" dirty="0">
              <a:solidFill>
                <a:schemeClr val="accent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616088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6356321-E1E5-4E52-A206-F5083026F29E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B92A05-927B-4EB9-9897-C28772A2EA8E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F20E0A-E1A6-4491-99AB-B63AFBA81833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核心设计矛盾：戴着镣铐跳舞</a:t>
            </a:r>
            <a:endParaRPr sz="217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8456F3-32D0-4CEC-8708-36D8C2251EB2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25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Keep them alive, keep them poor</a:t>
            </a:r>
            <a:endParaRPr sz="1125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854432-0847-47B1-9590-D8FAC7239B2C}"/>
              </a:ext>
            </a:extLst>
          </p:cNvPr>
          <p:cNvSpPr>
            <a:spLocks noGrp="1"/>
          </p:cNvSpPr>
          <p:nvPr/>
        </p:nvSpPr>
        <p:spPr>
          <a:xfrm>
            <a:off x="1441450" y="1828800"/>
            <a:ext cx="2000250" cy="2333625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235534" y="2019300"/>
            <a:ext cx="412082" cy="6286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A21A08A-9441-4224-B528-0E07DB7B8766}"/>
              </a:ext>
            </a:extLst>
          </p:cNvPr>
          <p:cNvSpPr>
            <a:spLocks noGrp="1"/>
          </p:cNvSpPr>
          <p:nvPr/>
        </p:nvSpPr>
        <p:spPr>
          <a:xfrm>
            <a:off x="1612900" y="2838450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赚得更多</a:t>
            </a:r>
            <a:endParaRPr sz="1500" b="1" dirty="0">
              <a:solidFill>
                <a:srgbClr val="A3403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5B9762-F88A-41F8-87AD-E309FA57C48C}"/>
              </a:ext>
            </a:extLst>
          </p:cNvPr>
          <p:cNvSpPr>
            <a:spLocks noGrp="1"/>
          </p:cNvSpPr>
          <p:nvPr/>
        </p:nvSpPr>
        <p:spPr>
          <a:xfrm>
            <a:off x="1498600" y="3291838"/>
            <a:ext cx="19431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玩家可以通过定价和</a:t>
            </a:r>
            <a:endParaRPr lang="en-US" altLang="zh-CN" sz="14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出售物品稳定获得收入</a:t>
            </a:r>
            <a:endParaRPr sz="14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14565C-BAB0-431A-96DB-9B6DFC6B4730}"/>
              </a:ext>
            </a:extLst>
          </p:cNvPr>
          <p:cNvSpPr>
            <a:spLocks noGrp="1"/>
          </p:cNvSpPr>
          <p:nvPr/>
        </p:nvSpPr>
        <p:spPr>
          <a:xfrm>
            <a:off x="3930650" y="1828800"/>
            <a:ext cx="2000250" cy="2333625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606256" y="2019300"/>
            <a:ext cx="649039" cy="6286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1C114E3-A084-4F89-B2AC-A9FB914B8682}"/>
              </a:ext>
            </a:extLst>
          </p:cNvPr>
          <p:cNvSpPr>
            <a:spLocks noGrp="1"/>
          </p:cNvSpPr>
          <p:nvPr/>
        </p:nvSpPr>
        <p:spPr>
          <a:xfrm>
            <a:off x="4102100" y="2838450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不能压垮</a:t>
            </a:r>
            <a:r>
              <a:rPr sz="1500" b="1" dirty="0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 AI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424339-5AC2-4E2D-83AE-56C13A7B5AF8}"/>
              </a:ext>
            </a:extLst>
          </p:cNvPr>
          <p:cNvSpPr>
            <a:spLocks noGrp="1"/>
          </p:cNvSpPr>
          <p:nvPr/>
        </p:nvSpPr>
        <p:spPr>
          <a:xfrm>
            <a:off x="4197350" y="3319779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lang="zh-CN" altLang="en-US" sz="14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的任何属性归零，游戏直接失败</a:t>
            </a:r>
            <a:endParaRPr sz="14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25CED0-FB07-4935-816C-9807682517AF}"/>
              </a:ext>
            </a:extLst>
          </p:cNvPr>
          <p:cNvSpPr>
            <a:spLocks noGrp="1"/>
          </p:cNvSpPr>
          <p:nvPr/>
        </p:nvSpPr>
        <p:spPr>
          <a:xfrm>
            <a:off x="6460490" y="1828800"/>
            <a:ext cx="2000250" cy="2333625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138510" y="2019300"/>
            <a:ext cx="644211" cy="62865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DEF8E212-3C83-4F86-82AA-4FCD67E8471A}"/>
              </a:ext>
            </a:extLst>
          </p:cNvPr>
          <p:cNvSpPr>
            <a:spLocks noGrp="1"/>
          </p:cNvSpPr>
          <p:nvPr/>
        </p:nvSpPr>
        <p:spPr>
          <a:xfrm>
            <a:off x="6631940" y="2838450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rPr>
              <a:t>供给充足</a:t>
            </a:r>
            <a:endParaRPr sz="1500" b="1" dirty="0">
              <a:solidFill>
                <a:srgbClr val="C696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D28865-EC76-4EDE-B72E-F33435002DAD}"/>
              </a:ext>
            </a:extLst>
          </p:cNvPr>
          <p:cNvSpPr>
            <a:spLocks noGrp="1"/>
          </p:cNvSpPr>
          <p:nvPr/>
        </p:nvSpPr>
        <p:spPr>
          <a:xfrm>
            <a:off x="6650990" y="3276599"/>
            <a:ext cx="1619250" cy="7620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库存不足可以营造稀缺，但会破坏物资供应链</a:t>
            </a:r>
            <a:endParaRPr sz="14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ABF0644-0135-4CAA-96EC-C1E4F7067C01}"/>
              </a:ext>
            </a:extLst>
          </p:cNvPr>
          <p:cNvSpPr>
            <a:spLocks noGrp="1"/>
          </p:cNvSpPr>
          <p:nvPr/>
        </p:nvSpPr>
        <p:spPr>
          <a:xfrm>
            <a:off x="9041130" y="1828800"/>
            <a:ext cx="2000250" cy="2333625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707880" y="2058167"/>
            <a:ext cx="666750" cy="550916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CA37B537-7E85-4D4D-A82E-02545120C477}"/>
              </a:ext>
            </a:extLst>
          </p:cNvPr>
          <p:cNvSpPr>
            <a:spLocks noGrp="1"/>
          </p:cNvSpPr>
          <p:nvPr/>
        </p:nvSpPr>
        <p:spPr>
          <a:xfrm>
            <a:off x="9212580" y="2838450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不能让</a:t>
            </a:r>
            <a:r>
              <a:rPr sz="1500" b="1" dirty="0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 AI </a:t>
            </a:r>
            <a:r>
              <a:rPr sz="1500" b="1" dirty="0" err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暴富</a:t>
            </a:r>
            <a:endParaRPr sz="1500" b="1" dirty="0">
              <a:solidFill>
                <a:srgbClr val="7045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CEA191E-9106-429F-9A08-DF40160A61BA}"/>
              </a:ext>
            </a:extLst>
          </p:cNvPr>
          <p:cNvSpPr>
            <a:spLocks noGrp="1"/>
          </p:cNvSpPr>
          <p:nvPr/>
        </p:nvSpPr>
        <p:spPr>
          <a:xfrm>
            <a:off x="9136380" y="3286125"/>
            <a:ext cx="1809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AI </a:t>
            </a:r>
            <a:r>
              <a:rPr lang="zh-CN" altLang="en-US" sz="140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通过买卖套利，低买高买，抢先取胜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B27539D-7857-4D86-A8F2-AD57C6A6B2B0}"/>
              </a:ext>
            </a:extLst>
          </p:cNvPr>
          <p:cNvSpPr>
            <a:spLocks noGrp="1"/>
          </p:cNvSpPr>
          <p:nvPr/>
        </p:nvSpPr>
        <p:spPr>
          <a:xfrm>
            <a:off x="2609850" y="5395595"/>
            <a:ext cx="7239000" cy="704850"/>
          </a:xfrm>
          <a:prstGeom prst="rect">
            <a:avLst/>
          </a:prstGeom>
          <a:solidFill>
            <a:srgbClr val="F7EBD0">
              <a:alpha val="90196"/>
            </a:srgbClr>
          </a:solidFill>
          <a:ln w="11430">
            <a:solidFill>
              <a:srgbClr val="C6963D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CC44BE9-8C51-451D-ACD2-58F9F5CD8F21}"/>
              </a:ext>
            </a:extLst>
          </p:cNvPr>
          <p:cNvSpPr>
            <a:spLocks noGrp="1"/>
          </p:cNvSpPr>
          <p:nvPr/>
        </p:nvSpPr>
        <p:spPr>
          <a:xfrm>
            <a:off x="2971800" y="5586095"/>
            <a:ext cx="6515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Keep them alive, keep them poor!</a:t>
            </a:r>
          </a:p>
        </p:txBody>
      </p:sp>
    </p:spTree>
    <p:extLst>
      <p:ext uri="{BB962C8B-B14F-4D97-AF65-F5344CB8AC3E}">
        <p14:creationId xmlns:p14="http://schemas.microsoft.com/office/powerpoint/2010/main" val="1293833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2C88BFF-53B6-4763-B7B5-FD5B7A83AD36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2572DE-D98B-430B-872A-DD273EFDAF91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C55093-32F1-4FD3-81B6-F74B30FD859C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总体架构</a:t>
            </a:r>
            <a:endParaRPr sz="217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B1DF971-224D-41BC-B3CC-AB1F1B3F62F8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Python </a:t>
            </a:r>
            <a:r>
              <a:rPr sz="1125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决策层负责状态和规则，Unity</a:t>
            </a:r>
            <a:r>
              <a:rPr sz="1125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25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执行层负责可视化和交互</a:t>
            </a:r>
            <a:endParaRPr sz="1125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14FB2C-F996-4016-ACD3-1FD464251A8C}"/>
              </a:ext>
            </a:extLst>
          </p:cNvPr>
          <p:cNvSpPr>
            <a:spLocks noGrp="1"/>
          </p:cNvSpPr>
          <p:nvPr/>
        </p:nvSpPr>
        <p:spPr>
          <a:xfrm>
            <a:off x="687070" y="2155190"/>
            <a:ext cx="4572000" cy="3619500"/>
          </a:xfrm>
          <a:prstGeom prst="rect">
            <a:avLst/>
          </a:prstGeom>
          <a:solidFill>
            <a:srgbClr val="FFF8E8">
              <a:alpha val="9098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BD3E4A-7459-4DEC-A25F-27A5E6B745E3}"/>
              </a:ext>
            </a:extLst>
          </p:cNvPr>
          <p:cNvSpPr>
            <a:spLocks noGrp="1"/>
          </p:cNvSpPr>
          <p:nvPr/>
        </p:nvSpPr>
        <p:spPr>
          <a:xfrm>
            <a:off x="6940550" y="844550"/>
            <a:ext cx="4572000" cy="3619500"/>
          </a:xfrm>
          <a:prstGeom prst="rect">
            <a:avLst/>
          </a:prstGeom>
          <a:solidFill>
            <a:srgbClr val="FFF8E8">
              <a:alpha val="9098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059309-4B21-4625-B408-7B447F7CF83F}"/>
              </a:ext>
            </a:extLst>
          </p:cNvPr>
          <p:cNvSpPr>
            <a:spLocks noGrp="1"/>
          </p:cNvSpPr>
          <p:nvPr/>
        </p:nvSpPr>
        <p:spPr>
          <a:xfrm>
            <a:off x="953770" y="2383790"/>
            <a:ext cx="3771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DecisionLayer</a:t>
            </a:r>
            <a:r>
              <a:rPr sz="1650" b="1" dirty="0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 /</a:t>
            </a:r>
            <a:r>
              <a:rPr lang="zh-CN" altLang="en-US" sz="1650" b="1" dirty="0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50" b="1" dirty="0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F02CCE3-1CE1-4A2A-B0BA-6BEF75CB47CF}"/>
              </a:ext>
            </a:extLst>
          </p:cNvPr>
          <p:cNvSpPr>
            <a:spLocks noGrp="1"/>
          </p:cNvSpPr>
          <p:nvPr/>
        </p:nvSpPr>
        <p:spPr>
          <a:xfrm>
            <a:off x="7245350" y="1073150"/>
            <a:ext cx="309753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ExecutionLayer</a:t>
            </a:r>
            <a:r>
              <a:rPr lang="en-US" sz="1650" b="1" dirty="0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sz="1650" b="1" dirty="0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Unity 2D</a:t>
            </a:r>
            <a:r>
              <a:rPr lang="en-US" sz="1650" b="1" dirty="0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650" b="1" dirty="0">
              <a:solidFill>
                <a:srgbClr val="355F4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40C408-122F-4984-9431-9DA72914B142}"/>
              </a:ext>
            </a:extLst>
          </p:cNvPr>
          <p:cNvSpPr>
            <a:spLocks noGrp="1"/>
          </p:cNvSpPr>
          <p:nvPr/>
        </p:nvSpPr>
        <p:spPr>
          <a:xfrm>
            <a:off x="1106170" y="2898140"/>
            <a:ext cx="1619250" cy="8382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CD998B-DB1E-47CD-AD41-4937B8520FD3}"/>
              </a:ext>
            </a:extLst>
          </p:cNvPr>
          <p:cNvSpPr>
            <a:spLocks noGrp="1"/>
          </p:cNvSpPr>
          <p:nvPr/>
        </p:nvSpPr>
        <p:spPr>
          <a:xfrm>
            <a:off x="1239520" y="303149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世界状态管理</a:t>
            </a:r>
            <a:endParaRPr sz="127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2DA64D-52D4-4401-AB95-A9C6D0A29586}"/>
              </a:ext>
            </a:extLst>
          </p:cNvPr>
          <p:cNvSpPr>
            <a:spLocks noGrp="1"/>
          </p:cNvSpPr>
          <p:nvPr/>
        </p:nvSpPr>
        <p:spPr>
          <a:xfrm>
            <a:off x="1172845" y="3298190"/>
            <a:ext cx="1485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角色</a:t>
            </a:r>
            <a:r>
              <a:rPr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地点</a:t>
            </a:r>
            <a:r>
              <a:rPr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商品</a:t>
            </a:r>
            <a:r>
              <a:rPr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事件</a:t>
            </a:r>
            <a:r>
              <a:rPr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玩家资金</a:t>
            </a:r>
            <a:endParaRPr sz="1200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F1D2722-1185-4ADA-925F-62D231CE094A}"/>
              </a:ext>
            </a:extLst>
          </p:cNvPr>
          <p:cNvSpPr>
            <a:spLocks noGrp="1"/>
          </p:cNvSpPr>
          <p:nvPr/>
        </p:nvSpPr>
        <p:spPr>
          <a:xfrm>
            <a:off x="3011170" y="2898140"/>
            <a:ext cx="1695450" cy="8382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32DBF7F-3148-40DB-B5AA-3434FA870DC0}"/>
              </a:ext>
            </a:extLst>
          </p:cNvPr>
          <p:cNvSpPr>
            <a:spLocks noGrp="1"/>
          </p:cNvSpPr>
          <p:nvPr/>
        </p:nvSpPr>
        <p:spPr>
          <a:xfrm>
            <a:off x="3144520" y="303149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Agent </a:t>
            </a:r>
            <a:r>
              <a:rPr lang="zh-CN" altLang="en-US" sz="127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运行时</a:t>
            </a:r>
            <a:endParaRPr sz="127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0FBA151-CDE4-4A95-B409-19E8AD125C8A}"/>
              </a:ext>
            </a:extLst>
          </p:cNvPr>
          <p:cNvSpPr>
            <a:spLocks noGrp="1"/>
          </p:cNvSpPr>
          <p:nvPr/>
        </p:nvSpPr>
        <p:spPr>
          <a:xfrm>
            <a:off x="2934970" y="3317240"/>
            <a:ext cx="1847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observe</a:t>
            </a:r>
            <a:r>
              <a:rPr lang="zh-CN" altLang="en-US" sz="120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plan → act </a:t>
            </a:r>
            <a:r>
              <a:rPr lang="zh-CN" altLang="en-US" sz="120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→</a:t>
            </a:r>
            <a:r>
              <a:rPr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reflect</a:t>
            </a:r>
            <a:r>
              <a:rPr lang="zh-CN" altLang="en-US" sz="120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lang="en-US" sz="120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memory</a:t>
            </a:r>
            <a:endParaRPr sz="1200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65C4414-6CE4-4D61-843A-4955C1A28787}"/>
              </a:ext>
            </a:extLst>
          </p:cNvPr>
          <p:cNvSpPr>
            <a:spLocks noGrp="1"/>
          </p:cNvSpPr>
          <p:nvPr/>
        </p:nvSpPr>
        <p:spPr>
          <a:xfrm>
            <a:off x="1106170" y="4098290"/>
            <a:ext cx="1619250" cy="8382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FAEED28-B7EE-4A97-9AF9-904A7BBCF60D}"/>
              </a:ext>
            </a:extLst>
          </p:cNvPr>
          <p:cNvSpPr>
            <a:spLocks noGrp="1"/>
          </p:cNvSpPr>
          <p:nvPr/>
        </p:nvSpPr>
        <p:spPr>
          <a:xfrm>
            <a:off x="1239520" y="423164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动作执行与校验器</a:t>
            </a:r>
            <a:endParaRPr sz="127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C881749-8343-4023-AE60-BC1013B55527}"/>
              </a:ext>
            </a:extLst>
          </p:cNvPr>
          <p:cNvSpPr>
            <a:spLocks noGrp="1"/>
          </p:cNvSpPr>
          <p:nvPr/>
        </p:nvSpPr>
        <p:spPr>
          <a:xfrm>
            <a:off x="1239520" y="4517390"/>
            <a:ext cx="1352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注册表</a:t>
            </a:r>
            <a:r>
              <a:rPr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校验器</a:t>
            </a:r>
            <a:r>
              <a:rPr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/ handler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A9F9CE-76CD-44A1-8D93-7E57F523F55A}"/>
              </a:ext>
            </a:extLst>
          </p:cNvPr>
          <p:cNvSpPr>
            <a:spLocks noGrp="1"/>
          </p:cNvSpPr>
          <p:nvPr/>
        </p:nvSpPr>
        <p:spPr>
          <a:xfrm>
            <a:off x="3011170" y="4098290"/>
            <a:ext cx="1695450" cy="8382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E7359CC-7CD0-4921-8D6F-CE598B8CED46}"/>
              </a:ext>
            </a:extLst>
          </p:cNvPr>
          <p:cNvSpPr>
            <a:spLocks noGrp="1"/>
          </p:cNvSpPr>
          <p:nvPr/>
        </p:nvSpPr>
        <p:spPr>
          <a:xfrm>
            <a:off x="3144519" y="4231640"/>
            <a:ext cx="1454467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商店与经济系统</a:t>
            </a:r>
            <a:endParaRPr sz="127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39FE541-5197-4BF7-AC50-C3DE116A3652}"/>
              </a:ext>
            </a:extLst>
          </p:cNvPr>
          <p:cNvSpPr>
            <a:spLocks noGrp="1"/>
          </p:cNvSpPr>
          <p:nvPr/>
        </p:nvSpPr>
        <p:spPr>
          <a:xfrm>
            <a:off x="3088641" y="4503420"/>
            <a:ext cx="1540508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价格</a:t>
            </a:r>
            <a:r>
              <a:rPr lang="zh-CN" altLang="en-US"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规则</a:t>
            </a:r>
            <a:r>
              <a:rPr lang="en-US" altLang="zh-CN"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lang="zh-CN" altLang="en-US"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交易结算</a:t>
            </a:r>
            <a:r>
              <a:rPr lang="en-US" altLang="zh-CN"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/</a:t>
            </a:r>
          </a:p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情报机制</a:t>
            </a:r>
            <a:endParaRPr sz="1200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CE4B983-874C-4F68-AE7D-983C52B29C13}"/>
              </a:ext>
            </a:extLst>
          </p:cNvPr>
          <p:cNvSpPr>
            <a:spLocks noGrp="1"/>
          </p:cNvSpPr>
          <p:nvPr/>
        </p:nvSpPr>
        <p:spPr>
          <a:xfrm>
            <a:off x="7397750" y="1587500"/>
            <a:ext cx="1619250" cy="8382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173EF39-55DE-4A5D-9DC8-6C8DC522F97B}"/>
              </a:ext>
            </a:extLst>
          </p:cNvPr>
          <p:cNvSpPr>
            <a:spLocks noGrp="1"/>
          </p:cNvSpPr>
          <p:nvPr/>
        </p:nvSpPr>
        <p:spPr>
          <a:xfrm>
            <a:off x="7531100" y="172085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2D </a:t>
            </a:r>
            <a:r>
              <a:rPr lang="zh-CN" altLang="en-US" sz="127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像素风场景</a:t>
            </a:r>
            <a:endParaRPr sz="127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AD7E410-FF4B-4744-A1E3-1B513E03A5C8}"/>
              </a:ext>
            </a:extLst>
          </p:cNvPr>
          <p:cNvSpPr>
            <a:spLocks noGrp="1"/>
          </p:cNvSpPr>
          <p:nvPr/>
        </p:nvSpPr>
        <p:spPr>
          <a:xfrm>
            <a:off x="7531100" y="2006600"/>
            <a:ext cx="1352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场景实体</a:t>
            </a:r>
            <a:r>
              <a:rPr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移动</a:t>
            </a:r>
            <a:r>
              <a:rPr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120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人物</a:t>
            </a:r>
            <a:r>
              <a:rPr sz="12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动画</a:t>
            </a:r>
            <a:endParaRPr sz="1200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B6087E-0CF4-4D1C-ACF6-D5E5F865D1EE}"/>
              </a:ext>
            </a:extLst>
          </p:cNvPr>
          <p:cNvSpPr>
            <a:spLocks noGrp="1"/>
          </p:cNvSpPr>
          <p:nvPr/>
        </p:nvSpPr>
        <p:spPr>
          <a:xfrm>
            <a:off x="9302750" y="1587500"/>
            <a:ext cx="1695450" cy="8382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7F9DD14-33E1-4F08-B209-8DBB7F7BC41D}"/>
              </a:ext>
            </a:extLst>
          </p:cNvPr>
          <p:cNvSpPr>
            <a:spLocks noGrp="1"/>
          </p:cNvSpPr>
          <p:nvPr/>
        </p:nvSpPr>
        <p:spPr>
          <a:xfrm>
            <a:off x="9436100" y="17208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商店仓储</a:t>
            </a:r>
            <a:r>
              <a:rPr sz="127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 UI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E5E84FC-15DC-4991-9FAA-D3EC8E6E0150}"/>
              </a:ext>
            </a:extLst>
          </p:cNvPr>
          <p:cNvSpPr>
            <a:spLocks noGrp="1"/>
          </p:cNvSpPr>
          <p:nvPr/>
        </p:nvSpPr>
        <p:spPr>
          <a:xfrm>
            <a:off x="9436100" y="2006600"/>
            <a:ext cx="1428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定价</a:t>
            </a:r>
            <a:r>
              <a:rPr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进货</a:t>
            </a:r>
            <a:r>
              <a:rPr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资金</a:t>
            </a:r>
            <a:r>
              <a:rPr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回合</a:t>
            </a:r>
            <a:r>
              <a:rPr lang="zh-CN" altLang="en-US"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动画</a:t>
            </a:r>
            <a:endParaRPr sz="1200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77A4914-3B6C-45DB-BDEE-8A1AFCB3E8E1}"/>
              </a:ext>
            </a:extLst>
          </p:cNvPr>
          <p:cNvSpPr>
            <a:spLocks noGrp="1"/>
          </p:cNvSpPr>
          <p:nvPr/>
        </p:nvSpPr>
        <p:spPr>
          <a:xfrm>
            <a:off x="7397750" y="2787650"/>
            <a:ext cx="1619250" cy="8382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8699E3B-EFFB-43FE-9766-463918F192D4}"/>
              </a:ext>
            </a:extLst>
          </p:cNvPr>
          <p:cNvSpPr>
            <a:spLocks noGrp="1"/>
          </p:cNvSpPr>
          <p:nvPr/>
        </p:nvSpPr>
        <p:spPr>
          <a:xfrm>
            <a:off x="7531100" y="29210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127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PlayerHUD</a:t>
            </a:r>
            <a:endParaRPr sz="127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19D8E1C-D359-424B-B02C-96A304CCB334}"/>
              </a:ext>
            </a:extLst>
          </p:cNvPr>
          <p:cNvSpPr>
            <a:spLocks noGrp="1"/>
          </p:cNvSpPr>
          <p:nvPr/>
        </p:nvSpPr>
        <p:spPr>
          <a:xfrm>
            <a:off x="7531100" y="3206750"/>
            <a:ext cx="1441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状态更新</a:t>
            </a:r>
            <a:r>
              <a:rPr lang="en-US" altLang="zh-CN"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lang="zh-CN" altLang="en-US"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聊天气泡</a:t>
            </a:r>
            <a:endParaRPr sz="1200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77F815F-1B31-46A2-BED0-EF3678AF1DCF}"/>
              </a:ext>
            </a:extLst>
          </p:cNvPr>
          <p:cNvSpPr>
            <a:spLocks noGrp="1"/>
          </p:cNvSpPr>
          <p:nvPr/>
        </p:nvSpPr>
        <p:spPr>
          <a:xfrm>
            <a:off x="9302750" y="2787650"/>
            <a:ext cx="1695450" cy="8382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F11C543-ACA1-400F-805B-9ADD54C91433}"/>
              </a:ext>
            </a:extLst>
          </p:cNvPr>
          <p:cNvSpPr>
            <a:spLocks noGrp="1"/>
          </p:cNvSpPr>
          <p:nvPr/>
        </p:nvSpPr>
        <p:spPr>
          <a:xfrm>
            <a:off x="9436100" y="29210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自动寻路与避障</a:t>
            </a:r>
            <a:endParaRPr sz="127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5B8B065-40A9-4060-BA70-166B6813BEFE}"/>
              </a:ext>
            </a:extLst>
          </p:cNvPr>
          <p:cNvSpPr>
            <a:spLocks noGrp="1"/>
          </p:cNvSpPr>
          <p:nvPr/>
        </p:nvSpPr>
        <p:spPr>
          <a:xfrm>
            <a:off x="9436100" y="3206750"/>
            <a:ext cx="1428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A*</a:t>
            </a:r>
            <a:r>
              <a:rPr lang="zh-CN" altLang="en-US"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算法与排队逻辑</a:t>
            </a:r>
            <a:endParaRPr sz="1200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2439DA2-2E34-4C6D-A8BA-7177317CD9F5}"/>
              </a:ext>
            </a:extLst>
          </p:cNvPr>
          <p:cNvSpPr>
            <a:spLocks noGrp="1"/>
          </p:cNvSpPr>
          <p:nvPr/>
        </p:nvSpPr>
        <p:spPr>
          <a:xfrm>
            <a:off x="5340350" y="2314242"/>
            <a:ext cx="1466850" cy="63977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650" b="1" dirty="0">
                <a:solidFill>
                  <a:sysClr val="windowText" lastClr="000000"/>
                </a:solidFill>
                <a:latin typeface="Microsoft YaHei"/>
                <a:ea typeface="Microsoft YaHei"/>
                <a:cs typeface="Microsoft YaHei"/>
              </a:rPr>
              <a:t>RPC</a:t>
            </a:r>
            <a:r>
              <a:rPr lang="zh-CN" altLang="en-US" sz="1650" b="1" dirty="0">
                <a:solidFill>
                  <a:sysClr val="windowText" lastClr="000000"/>
                </a:solidFill>
                <a:latin typeface="Microsoft YaHei"/>
                <a:ea typeface="Microsoft YaHei"/>
                <a:cs typeface="Microsoft YaHei"/>
              </a:rPr>
              <a:t>风格</a:t>
            </a:r>
            <a:endParaRPr lang="en-US" sz="1650" b="1" dirty="0">
              <a:solidFill>
                <a:sysClr val="windowText" lastClr="0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65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ysClr val="windowText" lastClr="000000"/>
                </a:solidFill>
                <a:latin typeface="Microsoft YaHei"/>
                <a:ea typeface="Microsoft YaHei"/>
                <a:cs typeface="Microsoft YaHei"/>
              </a:rPr>
              <a:t>WebSocket</a:t>
            </a:r>
            <a:r>
              <a:rPr lang="zh-CN" altLang="en-US" sz="1650" b="1" dirty="0">
                <a:solidFill>
                  <a:sysClr val="windowText" lastClr="000000"/>
                </a:solidFill>
                <a:latin typeface="Microsoft YaHei"/>
                <a:ea typeface="Microsoft YaHei"/>
                <a:cs typeface="Microsoft YaHei"/>
              </a:rPr>
              <a:t>通信</a:t>
            </a:r>
            <a:endParaRPr sz="1650" b="1" dirty="0">
              <a:solidFill>
                <a:sysClr val="windowText" lastClr="0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65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endParaRPr sz="1650" b="1" dirty="0">
              <a:solidFill>
                <a:sysClr val="windowText" lastClr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BC8ECD8-DC25-4C03-81BF-6ADBB062D67C}"/>
              </a:ext>
            </a:extLst>
          </p:cNvPr>
          <p:cNvSpPr>
            <a:spLocks noGrp="1"/>
          </p:cNvSpPr>
          <p:nvPr/>
        </p:nvSpPr>
        <p:spPr>
          <a:xfrm rot="19562268">
            <a:off x="4713477" y="3237121"/>
            <a:ext cx="2778543" cy="45719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7564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FF90D34-C517-49F7-B57C-5A36775777EC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6F4D1C-07D2-4EB5-9DF7-0F326524B256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633E2A-2495-40D8-937D-D02AE7C0BD50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回合闭环：从商店阶段到日结算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B89E8F-83AB-4200-BD56-039F6FC473CF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系统不是模块拼接，而是一个可回执、可重规划、可结算的循环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37403D-7232-43BA-8047-8E99CC30EC1E}"/>
              </a:ext>
            </a:extLst>
          </p:cNvPr>
          <p:cNvSpPr>
            <a:spLocks noGrp="1"/>
          </p:cNvSpPr>
          <p:nvPr/>
        </p:nvSpPr>
        <p:spPr>
          <a:xfrm>
            <a:off x="1400810" y="1619250"/>
            <a:ext cx="2000250" cy="952500"/>
          </a:xfrm>
          <a:prstGeom prst="rect">
            <a:avLst/>
          </a:prstGeom>
          <a:solidFill>
            <a:srgbClr val="F2DEBA">
              <a:alpha val="90980"/>
            </a:srgbClr>
          </a:solidFill>
          <a:ln w="11430">
            <a:solidFill>
              <a:srgbClr val="C6963D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BA3B7A-DE72-46EC-9C14-3D33014008AD}"/>
              </a:ext>
            </a:extLst>
          </p:cNvPr>
          <p:cNvSpPr>
            <a:spLocks noGrp="1"/>
          </p:cNvSpPr>
          <p:nvPr/>
        </p:nvSpPr>
        <p:spPr>
          <a:xfrm>
            <a:off x="1534160" y="1752600"/>
            <a:ext cx="1733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商店阶段</a:t>
            </a:r>
            <a:endParaRPr sz="1600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32DB2D-EE61-40CF-A6DF-0D172BE0DE21}"/>
              </a:ext>
            </a:extLst>
          </p:cNvPr>
          <p:cNvSpPr>
            <a:spLocks noGrp="1"/>
          </p:cNvSpPr>
          <p:nvPr/>
        </p:nvSpPr>
        <p:spPr>
          <a:xfrm>
            <a:off x="1534160" y="2038350"/>
            <a:ext cx="1733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玩家提交价格与进货</a:t>
            </a:r>
            <a:endParaRPr sz="1400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85B59C-8122-4A5F-B6A4-ED8A0F1A062D}"/>
              </a:ext>
            </a:extLst>
          </p:cNvPr>
          <p:cNvSpPr>
            <a:spLocks noGrp="1"/>
          </p:cNvSpPr>
          <p:nvPr/>
        </p:nvSpPr>
        <p:spPr>
          <a:xfrm>
            <a:off x="4144010" y="1619250"/>
            <a:ext cx="2000250" cy="9525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BB89FA-D647-423F-8A95-4BDF6BC7EF8A}"/>
              </a:ext>
            </a:extLst>
          </p:cNvPr>
          <p:cNvSpPr>
            <a:spLocks noGrp="1"/>
          </p:cNvSpPr>
          <p:nvPr/>
        </p:nvSpPr>
        <p:spPr>
          <a:xfrm>
            <a:off x="4277360" y="1752600"/>
            <a:ext cx="1733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AI </a:t>
            </a:r>
            <a:r>
              <a:rPr sz="1600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规划</a:t>
            </a:r>
            <a:endParaRPr sz="1600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E678EC-9751-42A6-AE2E-292A74AFF9C3}"/>
              </a:ext>
            </a:extLst>
          </p:cNvPr>
          <p:cNvSpPr>
            <a:spLocks noGrp="1"/>
          </p:cNvSpPr>
          <p:nvPr/>
        </p:nvSpPr>
        <p:spPr>
          <a:xfrm>
            <a:off x="4277360" y="2038350"/>
            <a:ext cx="1733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基于状态生成计划</a:t>
            </a:r>
            <a:endParaRPr sz="1400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14E35F-06E8-403A-AF76-DAA59BC99944}"/>
              </a:ext>
            </a:extLst>
          </p:cNvPr>
          <p:cNvSpPr>
            <a:spLocks noGrp="1"/>
          </p:cNvSpPr>
          <p:nvPr/>
        </p:nvSpPr>
        <p:spPr>
          <a:xfrm>
            <a:off x="6887210" y="1619250"/>
            <a:ext cx="2000250" cy="9525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D2F74F-DB72-403F-971A-1BC1BA087245}"/>
              </a:ext>
            </a:extLst>
          </p:cNvPr>
          <p:cNvSpPr>
            <a:spLocks noGrp="1"/>
          </p:cNvSpPr>
          <p:nvPr/>
        </p:nvSpPr>
        <p:spPr>
          <a:xfrm>
            <a:off x="7020560" y="1752600"/>
            <a:ext cx="1733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AI </a:t>
            </a:r>
            <a:r>
              <a:rPr sz="1600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行动</a:t>
            </a:r>
            <a:endParaRPr sz="1600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854365-F297-4166-B95C-0B8E8268CB27}"/>
              </a:ext>
            </a:extLst>
          </p:cNvPr>
          <p:cNvSpPr>
            <a:spLocks noGrp="1"/>
          </p:cNvSpPr>
          <p:nvPr/>
        </p:nvSpPr>
        <p:spPr>
          <a:xfrm>
            <a:off x="7020560" y="2038350"/>
            <a:ext cx="1733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输出结构化动作</a:t>
            </a:r>
            <a:endParaRPr sz="1400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FC44859-3F98-4D32-A2C3-2EB082D255AE}"/>
              </a:ext>
            </a:extLst>
          </p:cNvPr>
          <p:cNvSpPr>
            <a:spLocks noGrp="1"/>
          </p:cNvSpPr>
          <p:nvPr/>
        </p:nvSpPr>
        <p:spPr>
          <a:xfrm>
            <a:off x="6887210" y="3600450"/>
            <a:ext cx="2000250" cy="9525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2CE021F-F356-4F5C-954D-3F3A9EDBFF21}"/>
              </a:ext>
            </a:extLst>
          </p:cNvPr>
          <p:cNvSpPr>
            <a:spLocks noGrp="1"/>
          </p:cNvSpPr>
          <p:nvPr/>
        </p:nvSpPr>
        <p:spPr>
          <a:xfrm>
            <a:off x="7020560" y="3733800"/>
            <a:ext cx="1733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动作校验</a:t>
            </a:r>
            <a:endParaRPr sz="1600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241F1B-3D68-45DC-AF81-3570CA814B65}"/>
              </a:ext>
            </a:extLst>
          </p:cNvPr>
          <p:cNvSpPr>
            <a:spLocks noGrp="1"/>
          </p:cNvSpPr>
          <p:nvPr/>
        </p:nvSpPr>
        <p:spPr>
          <a:xfrm>
            <a:off x="7020560" y="4019550"/>
            <a:ext cx="1733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位置</a:t>
            </a:r>
            <a:r>
              <a:rPr sz="14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4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库存</a:t>
            </a:r>
            <a:r>
              <a:rPr sz="14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4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资金</a:t>
            </a:r>
            <a:endParaRPr sz="1400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3D6D52-46FC-4663-81FE-E50F95215186}"/>
              </a:ext>
            </a:extLst>
          </p:cNvPr>
          <p:cNvSpPr>
            <a:spLocks noGrp="1"/>
          </p:cNvSpPr>
          <p:nvPr/>
        </p:nvSpPr>
        <p:spPr>
          <a:xfrm>
            <a:off x="4144010" y="3600450"/>
            <a:ext cx="2000250" cy="9525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E468327-3467-48E5-A35C-1E99BBA361BC}"/>
              </a:ext>
            </a:extLst>
          </p:cNvPr>
          <p:cNvSpPr>
            <a:spLocks noGrp="1"/>
          </p:cNvSpPr>
          <p:nvPr/>
        </p:nvSpPr>
        <p:spPr>
          <a:xfrm>
            <a:off x="4277360" y="3733800"/>
            <a:ext cx="1733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Unity </a:t>
            </a:r>
            <a:r>
              <a:rPr sz="1600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执行</a:t>
            </a:r>
            <a:endParaRPr sz="1600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8A8D3C-E4D3-48C6-B856-29EA7600EC3A}"/>
              </a:ext>
            </a:extLst>
          </p:cNvPr>
          <p:cNvSpPr>
            <a:spLocks noGrp="1"/>
          </p:cNvSpPr>
          <p:nvPr/>
        </p:nvSpPr>
        <p:spPr>
          <a:xfrm>
            <a:off x="4277360" y="4019550"/>
            <a:ext cx="1733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动画和反馈回执</a:t>
            </a:r>
            <a:endParaRPr sz="1400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046550B-72E0-44CE-81CE-6D5D2A2CCB8A}"/>
              </a:ext>
            </a:extLst>
          </p:cNvPr>
          <p:cNvSpPr>
            <a:spLocks noGrp="1"/>
          </p:cNvSpPr>
          <p:nvPr/>
        </p:nvSpPr>
        <p:spPr>
          <a:xfrm>
            <a:off x="1400810" y="3600450"/>
            <a:ext cx="2000250" cy="9525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5D7F3D1-7A75-4A23-B151-FD3AAB79F642}"/>
              </a:ext>
            </a:extLst>
          </p:cNvPr>
          <p:cNvSpPr>
            <a:spLocks noGrp="1"/>
          </p:cNvSpPr>
          <p:nvPr/>
        </p:nvSpPr>
        <p:spPr>
          <a:xfrm>
            <a:off x="1534160" y="3733800"/>
            <a:ext cx="1733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回合结算</a:t>
            </a:r>
            <a:endParaRPr sz="1600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645EECA-7241-4D9C-8729-151E75FCFB17}"/>
              </a:ext>
            </a:extLst>
          </p:cNvPr>
          <p:cNvSpPr>
            <a:spLocks noGrp="1"/>
          </p:cNvSpPr>
          <p:nvPr/>
        </p:nvSpPr>
        <p:spPr>
          <a:xfrm>
            <a:off x="1486535" y="4019550"/>
            <a:ext cx="1866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价格</a:t>
            </a:r>
            <a:r>
              <a:rPr sz="14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4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库存</a:t>
            </a:r>
            <a:r>
              <a:rPr sz="14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4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事件</a:t>
            </a:r>
            <a:r>
              <a:rPr sz="14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4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胜负</a:t>
            </a:r>
            <a:endParaRPr sz="1400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EB5AB14-4364-4E0C-B970-BF24A07C3BD3}"/>
              </a:ext>
            </a:extLst>
          </p:cNvPr>
          <p:cNvSpPr>
            <a:spLocks noGrp="1"/>
          </p:cNvSpPr>
          <p:nvPr/>
        </p:nvSpPr>
        <p:spPr>
          <a:xfrm>
            <a:off x="9401810" y="1666240"/>
            <a:ext cx="2038350" cy="268605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7A9A1EF-584A-40B7-8145-B9A0D0C3D7B8}"/>
              </a:ext>
            </a:extLst>
          </p:cNvPr>
          <p:cNvSpPr>
            <a:spLocks noGrp="1"/>
          </p:cNvSpPr>
          <p:nvPr/>
        </p:nvSpPr>
        <p:spPr>
          <a:xfrm>
            <a:off x="9706610" y="191389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结算内容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2831225-B527-4EDD-9E97-BE3DA84A538A}"/>
              </a:ext>
            </a:extLst>
          </p:cNvPr>
          <p:cNvSpPr>
            <a:spLocks noGrp="1"/>
          </p:cNvSpPr>
          <p:nvPr/>
        </p:nvSpPr>
        <p:spPr>
          <a:xfrm>
            <a:off x="9744710" y="248539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1A2C9E4-A4A2-419E-98CC-CCCF6145A42E}"/>
              </a:ext>
            </a:extLst>
          </p:cNvPr>
          <p:cNvSpPr>
            <a:spLocks noGrp="1"/>
          </p:cNvSpPr>
          <p:nvPr/>
        </p:nvSpPr>
        <p:spPr>
          <a:xfrm>
            <a:off x="9954260" y="240919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玩家当日收入</a:t>
            </a:r>
            <a:endParaRPr sz="14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4DAC5CE-87EA-4FAF-8403-F85D4DDF2997}"/>
              </a:ext>
            </a:extLst>
          </p:cNvPr>
          <p:cNvSpPr>
            <a:spLocks noGrp="1"/>
          </p:cNvSpPr>
          <p:nvPr/>
        </p:nvSpPr>
        <p:spPr>
          <a:xfrm>
            <a:off x="9744710" y="280924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F2FB8C0-DC1E-4CA7-BEEF-8D6C9337C9CC}"/>
              </a:ext>
            </a:extLst>
          </p:cNvPr>
          <p:cNvSpPr>
            <a:spLocks noGrp="1"/>
          </p:cNvSpPr>
          <p:nvPr/>
        </p:nvSpPr>
        <p:spPr>
          <a:xfrm>
            <a:off x="9954260" y="273304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市场价格推进</a:t>
            </a:r>
            <a:endParaRPr sz="14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45958EB-FFCA-4A8B-B279-976920D8AF10}"/>
              </a:ext>
            </a:extLst>
          </p:cNvPr>
          <p:cNvSpPr>
            <a:spLocks noGrp="1"/>
          </p:cNvSpPr>
          <p:nvPr/>
        </p:nvSpPr>
        <p:spPr>
          <a:xfrm>
            <a:off x="9744710" y="313309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3A8411D-DF3A-4AAF-B2F7-2B75E3FC871E}"/>
              </a:ext>
            </a:extLst>
          </p:cNvPr>
          <p:cNvSpPr>
            <a:spLocks noGrp="1"/>
          </p:cNvSpPr>
          <p:nvPr/>
        </p:nvSpPr>
        <p:spPr>
          <a:xfrm>
            <a:off x="9954260" y="305689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AI 生存消耗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1DB16E2-4F89-438C-8346-01DBF772AB1A}"/>
              </a:ext>
            </a:extLst>
          </p:cNvPr>
          <p:cNvSpPr>
            <a:spLocks noGrp="1"/>
          </p:cNvSpPr>
          <p:nvPr/>
        </p:nvSpPr>
        <p:spPr>
          <a:xfrm>
            <a:off x="9744710" y="345694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296A9C6-3326-4835-87F7-EE077EEF1BF4}"/>
              </a:ext>
            </a:extLst>
          </p:cNvPr>
          <p:cNvSpPr>
            <a:spLocks noGrp="1"/>
          </p:cNvSpPr>
          <p:nvPr/>
        </p:nvSpPr>
        <p:spPr>
          <a:xfrm>
            <a:off x="9954260" y="338074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随机事件触发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F24E450-2AD8-42EE-A4FC-A31CC47C5352}"/>
              </a:ext>
            </a:extLst>
          </p:cNvPr>
          <p:cNvSpPr>
            <a:spLocks noGrp="1"/>
          </p:cNvSpPr>
          <p:nvPr/>
        </p:nvSpPr>
        <p:spPr>
          <a:xfrm>
            <a:off x="9744710" y="378079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4E3BB45-D99E-4092-B7AF-0563D0B5B8E8}"/>
              </a:ext>
            </a:extLst>
          </p:cNvPr>
          <p:cNvSpPr>
            <a:spLocks noGrp="1"/>
          </p:cNvSpPr>
          <p:nvPr/>
        </p:nvSpPr>
        <p:spPr>
          <a:xfrm>
            <a:off x="9954260" y="370459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决策点影响</a:t>
            </a:r>
            <a:endParaRPr sz="14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0597BB0C-1163-A4BB-8196-CCC19F371AAF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3401060" y="2095500"/>
            <a:ext cx="742950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887EAF4D-D792-9EC9-26A1-9F0C16486C2E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6144260" y="2095500"/>
            <a:ext cx="742950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4E52192-1FCB-7B5A-7E76-99B52E173F29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7887335" y="2571750"/>
            <a:ext cx="0" cy="102870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CD8F9252-5167-6366-0656-2FC3549A1F2D}"/>
              </a:ext>
            </a:extLst>
          </p:cNvPr>
          <p:cNvCxnSpPr>
            <a:cxnSpLocks/>
            <a:stCxn id="15" idx="1"/>
            <a:endCxn id="18" idx="3"/>
          </p:cNvCxnSpPr>
          <p:nvPr/>
        </p:nvCxnSpPr>
        <p:spPr>
          <a:xfrm flipH="1">
            <a:off x="6144260" y="4076700"/>
            <a:ext cx="742950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79268A44-2E9D-2EA9-A224-59009539E41F}"/>
              </a:ext>
            </a:extLst>
          </p:cNvPr>
          <p:cNvCxnSpPr>
            <a:cxnSpLocks/>
            <a:stCxn id="18" idx="1"/>
            <a:endCxn id="21" idx="3"/>
          </p:cNvCxnSpPr>
          <p:nvPr/>
        </p:nvCxnSpPr>
        <p:spPr>
          <a:xfrm flipH="1">
            <a:off x="3401060" y="4076700"/>
            <a:ext cx="742950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3DD73D12-778B-89A3-7FC0-AF941E2DBD45}"/>
              </a:ext>
            </a:extLst>
          </p:cNvPr>
          <p:cNvCxnSpPr>
            <a:cxnSpLocks/>
            <a:stCxn id="21" idx="0"/>
            <a:endCxn id="6" idx="2"/>
          </p:cNvCxnSpPr>
          <p:nvPr/>
        </p:nvCxnSpPr>
        <p:spPr>
          <a:xfrm flipV="1">
            <a:off x="2400935" y="2571750"/>
            <a:ext cx="0" cy="102870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235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B7B23D4-8C19-45CF-948E-8E46E6D9F187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6CEBCB-1000-48CD-BD84-144DD39065F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F07877-20ED-477A-A001-50A414F64BB4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7886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Agent </a:t>
            </a:r>
            <a:r>
              <a:rPr sz="217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决策链</a:t>
            </a:r>
            <a:endParaRPr sz="217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050747-FCA6-402B-A728-551B808B4508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将</a:t>
            </a:r>
            <a:r>
              <a:rPr sz="1125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LLM放进持续运行的状态机</a:t>
            </a:r>
            <a:endParaRPr sz="1125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D9EAC1B9-2E14-1F7E-22F7-36D95E6BFF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10" y="14351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091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113866B-9459-4A88-8145-E9266293E6ED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A8428C-71FE-4761-80F7-F027712071D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6C88CE-FBC0-493D-8173-F334E5411F70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动作空间和</a:t>
            </a:r>
            <a:r>
              <a:rPr sz="217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动作系统</a:t>
            </a:r>
            <a:endParaRPr sz="217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380CE0-1B8B-46E6-99E3-96E31B4569C2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把模型输出变成“待审查动作提案</a:t>
            </a:r>
            <a:r>
              <a:rPr sz="1125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”，</a:t>
            </a:r>
            <a:r>
              <a:rPr lang="zh-CN" altLang="en-US" sz="1125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规则系统决定是否执行</a:t>
            </a:r>
            <a:endParaRPr sz="1125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6FA7AE-6C32-4625-86C3-E82DF4C0F621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3238500" cy="34290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0998D2-53B4-4486-92E6-35F147C259C4}"/>
              </a:ext>
            </a:extLst>
          </p:cNvPr>
          <p:cNvSpPr>
            <a:spLocks noGrp="1"/>
          </p:cNvSpPr>
          <p:nvPr/>
        </p:nvSpPr>
        <p:spPr>
          <a:xfrm>
            <a:off x="4476750" y="1466850"/>
            <a:ext cx="3238500" cy="34290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B666E9-4171-485B-B22B-FA64E4E59DC6}"/>
              </a:ext>
            </a:extLst>
          </p:cNvPr>
          <p:cNvSpPr>
            <a:spLocks noGrp="1"/>
          </p:cNvSpPr>
          <p:nvPr/>
        </p:nvSpPr>
        <p:spPr>
          <a:xfrm>
            <a:off x="8143875" y="1466850"/>
            <a:ext cx="3238500" cy="34290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67EA1C-9FD0-489E-B173-BABA2EF69332}"/>
              </a:ext>
            </a:extLst>
          </p:cNvPr>
          <p:cNvSpPr>
            <a:spLocks noGrp="1"/>
          </p:cNvSpPr>
          <p:nvPr/>
        </p:nvSpPr>
        <p:spPr>
          <a:xfrm>
            <a:off x="1257300" y="175260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7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动作注册表</a:t>
            </a:r>
            <a:endParaRPr lang="en-US" sz="1725" b="1" dirty="0">
              <a:solidFill>
                <a:srgbClr val="A34032"/>
              </a:solidFill>
              <a:latin typeface="Microsoft YaHei"/>
              <a:ea typeface="Microsoft YaHei"/>
              <a:cs typeface="Microsoft YaHei"/>
            </a:endParaRPr>
          </a:p>
          <a:p>
            <a:pPr algn="ctr" rtl="0">
              <a:defRPr sz="17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 dirty="0"/>
              <a:t>Registry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341754-F785-4952-B926-170001CE8946}"/>
              </a:ext>
            </a:extLst>
          </p:cNvPr>
          <p:cNvSpPr>
            <a:spLocks noGrp="1"/>
          </p:cNvSpPr>
          <p:nvPr/>
        </p:nvSpPr>
        <p:spPr>
          <a:xfrm>
            <a:off x="1736090" y="259207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82D42A6-0ACA-4432-809A-7FCA2617186A}"/>
              </a:ext>
            </a:extLst>
          </p:cNvPr>
          <p:cNvSpPr>
            <a:spLocks noGrp="1"/>
          </p:cNvSpPr>
          <p:nvPr/>
        </p:nvSpPr>
        <p:spPr>
          <a:xfrm>
            <a:off x="1945640" y="251587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移动</a:t>
            </a:r>
            <a:endParaRPr sz="16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CF85F1-472C-4BBC-8E5F-E25A124C5B77}"/>
              </a:ext>
            </a:extLst>
          </p:cNvPr>
          <p:cNvSpPr>
            <a:spLocks noGrp="1"/>
          </p:cNvSpPr>
          <p:nvPr/>
        </p:nvSpPr>
        <p:spPr>
          <a:xfrm>
            <a:off x="1736090" y="295402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C20D69-C466-4737-AC8F-533D10759811}"/>
              </a:ext>
            </a:extLst>
          </p:cNvPr>
          <p:cNvSpPr>
            <a:spLocks noGrp="1"/>
          </p:cNvSpPr>
          <p:nvPr/>
        </p:nvSpPr>
        <p:spPr>
          <a:xfrm>
            <a:off x="1945640" y="287782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买卖物品</a:t>
            </a:r>
            <a:endParaRPr sz="16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D2437D8-6283-4165-8A16-EE22D8E11E13}"/>
              </a:ext>
            </a:extLst>
          </p:cNvPr>
          <p:cNvSpPr>
            <a:spLocks noGrp="1"/>
          </p:cNvSpPr>
          <p:nvPr/>
        </p:nvSpPr>
        <p:spPr>
          <a:xfrm>
            <a:off x="1736090" y="331597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A1C2D16-CE53-4CC2-97DB-8DAE743911DA}"/>
              </a:ext>
            </a:extLst>
          </p:cNvPr>
          <p:cNvSpPr>
            <a:spLocks noGrp="1"/>
          </p:cNvSpPr>
          <p:nvPr/>
        </p:nvSpPr>
        <p:spPr>
          <a:xfrm>
            <a:off x="1945640" y="323977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消耗物品</a:t>
            </a:r>
            <a:endParaRPr sz="16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1D7C71E-2C33-40F3-8975-91E67D528D90}"/>
              </a:ext>
            </a:extLst>
          </p:cNvPr>
          <p:cNvSpPr>
            <a:spLocks noGrp="1"/>
          </p:cNvSpPr>
          <p:nvPr/>
        </p:nvSpPr>
        <p:spPr>
          <a:xfrm>
            <a:off x="1736090" y="367792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5CADB4-D6BC-4345-A0AE-0E0DC0BDA2CA}"/>
              </a:ext>
            </a:extLst>
          </p:cNvPr>
          <p:cNvSpPr>
            <a:spLocks noGrp="1"/>
          </p:cNvSpPr>
          <p:nvPr/>
        </p:nvSpPr>
        <p:spPr>
          <a:xfrm>
            <a:off x="1945640" y="360172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睡觉和等待</a:t>
            </a:r>
            <a:endParaRPr sz="16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D67A20-B2B7-4A44-9A10-F40D61D6C903}"/>
              </a:ext>
            </a:extLst>
          </p:cNvPr>
          <p:cNvSpPr>
            <a:spLocks noGrp="1"/>
          </p:cNvSpPr>
          <p:nvPr/>
        </p:nvSpPr>
        <p:spPr>
          <a:xfrm>
            <a:off x="1736090" y="403987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8E0EEC-FD1F-4F44-8E5B-1E895396B20D}"/>
              </a:ext>
            </a:extLst>
          </p:cNvPr>
          <p:cNvSpPr>
            <a:spLocks noGrp="1"/>
          </p:cNvSpPr>
          <p:nvPr/>
        </p:nvSpPr>
        <p:spPr>
          <a:xfrm>
            <a:off x="1945640" y="396367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调用技能</a:t>
            </a:r>
            <a:endParaRPr sz="16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7C03861-6BCD-40EF-8093-3C3E36AF18DC}"/>
              </a:ext>
            </a:extLst>
          </p:cNvPr>
          <p:cNvSpPr>
            <a:spLocks noGrp="1"/>
          </p:cNvSpPr>
          <p:nvPr/>
        </p:nvSpPr>
        <p:spPr>
          <a:xfrm>
            <a:off x="4914900" y="175260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725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 dirty="0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动作校验器</a:t>
            </a:r>
            <a:endParaRPr lang="en-US" sz="1725" b="1" dirty="0">
              <a:solidFill>
                <a:srgbClr val="355F4C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725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Validator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5D63628-0B12-4B2C-BCEE-D5CEFBAB0D2B}"/>
              </a:ext>
            </a:extLst>
          </p:cNvPr>
          <p:cNvSpPr>
            <a:spLocks noGrp="1"/>
          </p:cNvSpPr>
          <p:nvPr/>
        </p:nvSpPr>
        <p:spPr>
          <a:xfrm>
            <a:off x="5067300" y="2622550"/>
            <a:ext cx="85725" cy="85725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1247A12-FA56-4A23-9865-ECD719E2C9F2}"/>
              </a:ext>
            </a:extLst>
          </p:cNvPr>
          <p:cNvSpPr>
            <a:spLocks noGrp="1"/>
          </p:cNvSpPr>
          <p:nvPr/>
        </p:nvSpPr>
        <p:spPr>
          <a:xfrm>
            <a:off x="5276850" y="25463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是否在市场</a:t>
            </a:r>
            <a:endParaRPr sz="16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A173C5C-E56C-4C96-BD7C-831556128E8C}"/>
              </a:ext>
            </a:extLst>
          </p:cNvPr>
          <p:cNvSpPr>
            <a:spLocks noGrp="1"/>
          </p:cNvSpPr>
          <p:nvPr/>
        </p:nvSpPr>
        <p:spPr>
          <a:xfrm>
            <a:off x="5067300" y="2984500"/>
            <a:ext cx="85725" cy="85725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CE3EB63-4BAA-4FC8-96A5-5BFC7D354D4D}"/>
              </a:ext>
            </a:extLst>
          </p:cNvPr>
          <p:cNvSpPr>
            <a:spLocks noGrp="1"/>
          </p:cNvSpPr>
          <p:nvPr/>
        </p:nvSpPr>
        <p:spPr>
          <a:xfrm>
            <a:off x="5276850" y="290830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库存是否足够</a:t>
            </a:r>
            <a:endParaRPr sz="16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FED03EE-64F9-4E7D-9239-5F4EA83D9DB4}"/>
              </a:ext>
            </a:extLst>
          </p:cNvPr>
          <p:cNvSpPr>
            <a:spLocks noGrp="1"/>
          </p:cNvSpPr>
          <p:nvPr/>
        </p:nvSpPr>
        <p:spPr>
          <a:xfrm>
            <a:off x="5067300" y="3346450"/>
            <a:ext cx="85725" cy="85725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E8974A8-F2B9-49EF-970E-1A9FC8361CE8}"/>
              </a:ext>
            </a:extLst>
          </p:cNvPr>
          <p:cNvSpPr>
            <a:spLocks noGrp="1"/>
          </p:cNvSpPr>
          <p:nvPr/>
        </p:nvSpPr>
        <p:spPr>
          <a:xfrm>
            <a:off x="5276850" y="32702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资金是否足够</a:t>
            </a:r>
            <a:endParaRPr sz="16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090BE2C-AEDB-40B8-8CA5-83CE3871345A}"/>
              </a:ext>
            </a:extLst>
          </p:cNvPr>
          <p:cNvSpPr>
            <a:spLocks noGrp="1"/>
          </p:cNvSpPr>
          <p:nvPr/>
        </p:nvSpPr>
        <p:spPr>
          <a:xfrm>
            <a:off x="5067300" y="3708400"/>
            <a:ext cx="85725" cy="85725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908697F-A401-4043-897F-5FB4267EDE43}"/>
              </a:ext>
            </a:extLst>
          </p:cNvPr>
          <p:cNvSpPr>
            <a:spLocks noGrp="1"/>
          </p:cNvSpPr>
          <p:nvPr/>
        </p:nvSpPr>
        <p:spPr>
          <a:xfrm>
            <a:off x="5276850" y="363220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背包是否有</a:t>
            </a:r>
            <a:r>
              <a:rPr lang="zh-CN" altLang="en-US"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空间</a:t>
            </a:r>
            <a:endParaRPr sz="16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320878E-0D8D-4D1D-B182-1C5A9753DFDF}"/>
              </a:ext>
            </a:extLst>
          </p:cNvPr>
          <p:cNvSpPr>
            <a:spLocks noGrp="1"/>
          </p:cNvSpPr>
          <p:nvPr/>
        </p:nvSpPr>
        <p:spPr>
          <a:xfrm>
            <a:off x="5067300" y="4070350"/>
            <a:ext cx="85725" cy="85725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63E55B9-1179-48FB-84E7-1F5157EABBB8}"/>
              </a:ext>
            </a:extLst>
          </p:cNvPr>
          <p:cNvSpPr>
            <a:spLocks noGrp="1"/>
          </p:cNvSpPr>
          <p:nvPr/>
        </p:nvSpPr>
        <p:spPr>
          <a:xfrm>
            <a:off x="5276850" y="39941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是否触发保护机制</a:t>
            </a:r>
            <a:endParaRPr sz="16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D4BCE4B-745A-43BB-810E-5B0679E50D1C}"/>
              </a:ext>
            </a:extLst>
          </p:cNvPr>
          <p:cNvSpPr>
            <a:spLocks noGrp="1"/>
          </p:cNvSpPr>
          <p:nvPr/>
        </p:nvSpPr>
        <p:spPr>
          <a:xfrm>
            <a:off x="8572500" y="175260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725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 dirty="0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rPr>
              <a:t>动作执行器</a:t>
            </a:r>
            <a:endParaRPr lang="en-US" sz="1725" b="1" dirty="0">
              <a:solidFill>
                <a:srgbClr val="C6963D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725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725" b="1" dirty="0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rPr>
              <a:t>Handler</a:t>
            </a:r>
            <a:endParaRPr sz="1725" b="1" dirty="0">
              <a:solidFill>
                <a:srgbClr val="C696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9514B8C-72E5-43F0-A55C-4A6F05B2AB13}"/>
              </a:ext>
            </a:extLst>
          </p:cNvPr>
          <p:cNvSpPr>
            <a:spLocks noGrp="1"/>
          </p:cNvSpPr>
          <p:nvPr/>
        </p:nvSpPr>
        <p:spPr>
          <a:xfrm>
            <a:off x="8724900" y="269367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68398E5-9214-4F96-84E6-1FFA537269D7}"/>
              </a:ext>
            </a:extLst>
          </p:cNvPr>
          <p:cNvSpPr>
            <a:spLocks noGrp="1"/>
          </p:cNvSpPr>
          <p:nvPr/>
        </p:nvSpPr>
        <p:spPr>
          <a:xfrm>
            <a:off x="8934450" y="261747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修改世界状态</a:t>
            </a:r>
            <a:endParaRPr sz="16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E6FCD14-1651-4C0E-B97F-0149C87BA950}"/>
              </a:ext>
            </a:extLst>
          </p:cNvPr>
          <p:cNvSpPr>
            <a:spLocks noGrp="1"/>
          </p:cNvSpPr>
          <p:nvPr/>
        </p:nvSpPr>
        <p:spPr>
          <a:xfrm>
            <a:off x="8724900" y="305562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A850DB5-06D7-4192-963D-5EBC064EC0B6}"/>
              </a:ext>
            </a:extLst>
          </p:cNvPr>
          <p:cNvSpPr>
            <a:spLocks noGrp="1"/>
          </p:cNvSpPr>
          <p:nvPr/>
        </p:nvSpPr>
        <p:spPr>
          <a:xfrm>
            <a:off x="8934450" y="297942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扣除</a:t>
            </a:r>
            <a:r>
              <a:rPr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6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增加资金</a:t>
            </a:r>
            <a:endParaRPr sz="16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E3E82B3-398F-498B-8B58-AA4A19D698FF}"/>
              </a:ext>
            </a:extLst>
          </p:cNvPr>
          <p:cNvSpPr>
            <a:spLocks noGrp="1"/>
          </p:cNvSpPr>
          <p:nvPr/>
        </p:nvSpPr>
        <p:spPr>
          <a:xfrm>
            <a:off x="8724900" y="341757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F67DAB1-077F-464B-B52F-5C6C54604132}"/>
              </a:ext>
            </a:extLst>
          </p:cNvPr>
          <p:cNvSpPr>
            <a:spLocks noGrp="1"/>
          </p:cNvSpPr>
          <p:nvPr/>
        </p:nvSpPr>
        <p:spPr>
          <a:xfrm>
            <a:off x="8934450" y="334137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更新库存</a:t>
            </a:r>
            <a:endParaRPr sz="16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593826C-7056-462B-A0B2-189EBC86B702}"/>
              </a:ext>
            </a:extLst>
          </p:cNvPr>
          <p:cNvSpPr>
            <a:spLocks noGrp="1"/>
          </p:cNvSpPr>
          <p:nvPr/>
        </p:nvSpPr>
        <p:spPr>
          <a:xfrm>
            <a:off x="8724900" y="377952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4F01BC9-1B3D-4BA3-93A5-4A496A9B4D14}"/>
              </a:ext>
            </a:extLst>
          </p:cNvPr>
          <p:cNvSpPr>
            <a:spLocks noGrp="1"/>
          </p:cNvSpPr>
          <p:nvPr/>
        </p:nvSpPr>
        <p:spPr>
          <a:xfrm>
            <a:off x="8934450" y="370332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广播市场信息</a:t>
            </a:r>
            <a:endParaRPr sz="16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24D5F55-66D9-4585-B271-CE10EA4F7784}"/>
              </a:ext>
            </a:extLst>
          </p:cNvPr>
          <p:cNvSpPr>
            <a:spLocks noGrp="1"/>
          </p:cNvSpPr>
          <p:nvPr/>
        </p:nvSpPr>
        <p:spPr>
          <a:xfrm>
            <a:off x="8724900" y="414147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0AA31F6-45F2-491E-A793-2AD7474D7468}"/>
              </a:ext>
            </a:extLst>
          </p:cNvPr>
          <p:cNvSpPr>
            <a:spLocks noGrp="1"/>
          </p:cNvSpPr>
          <p:nvPr/>
        </p:nvSpPr>
        <p:spPr>
          <a:xfrm>
            <a:off x="8934450" y="4065270"/>
            <a:ext cx="2019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远程调用</a:t>
            </a:r>
            <a:r>
              <a:rPr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 Unity </a:t>
            </a:r>
            <a:r>
              <a:rPr sz="16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动画</a:t>
            </a:r>
            <a:endParaRPr sz="16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B5E6FC7-D3D9-460E-B7E8-C279FC07F2D0}"/>
              </a:ext>
            </a:extLst>
          </p:cNvPr>
          <p:cNvSpPr>
            <a:spLocks noGrp="1"/>
          </p:cNvSpPr>
          <p:nvPr/>
        </p:nvSpPr>
        <p:spPr>
          <a:xfrm>
            <a:off x="2489200" y="5349240"/>
            <a:ext cx="7362190" cy="706120"/>
          </a:xfrm>
          <a:prstGeom prst="rect">
            <a:avLst/>
          </a:prstGeom>
          <a:solidFill>
            <a:schemeClr val="bg1">
              <a:alpha val="90980"/>
            </a:schemeClr>
          </a:solidFill>
          <a:ln w="11430">
            <a:solidFill>
              <a:srgbClr val="C6963D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643EC03-1D7E-4731-9904-97F0F116F1C7}"/>
              </a:ext>
            </a:extLst>
          </p:cNvPr>
          <p:cNvSpPr>
            <a:spLocks noGrp="1"/>
          </p:cNvSpPr>
          <p:nvPr/>
        </p:nvSpPr>
        <p:spPr>
          <a:xfrm>
            <a:off x="2650490" y="5459095"/>
            <a:ext cx="7039610" cy="5537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系统可靠性来自</a:t>
            </a:r>
            <a:r>
              <a:rPr sz="1600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1600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API</a:t>
            </a:r>
            <a:r>
              <a:rPr lang="zh-CN" altLang="en-US" sz="1600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格式约束</a:t>
            </a:r>
            <a:r>
              <a:rPr sz="1600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lang="zh-CN" altLang="en-US" sz="1600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合理性校验</a:t>
            </a:r>
            <a:r>
              <a:rPr sz="1600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lang="zh-CN" altLang="en-US" sz="1600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合法</a:t>
            </a:r>
            <a:r>
              <a:rPr sz="1600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性校验</a:t>
            </a:r>
            <a:endParaRPr lang="en-US" sz="1600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350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三层结构</a:t>
            </a:r>
            <a:endParaRPr sz="1600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49438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6C674D9-C6EC-42E9-AB0E-23AB76295E7C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0E8552-99A5-4BD8-A40A-5844A9D78A8D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F39887-6B08-4612-94D7-49925FE59CE6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WebSocket</a:t>
            </a:r>
            <a:r>
              <a:rPr lang="zh-CN" altLang="en-US" sz="217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通信</a:t>
            </a:r>
            <a:endParaRPr sz="217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82CA7F-15A9-437D-B89B-8C2E67E677E1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状态同步的核心协议</a:t>
            </a:r>
            <a:endParaRPr sz="1125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00C1CEA-FC74-E71A-EAB9-538B972DBD8C}"/>
              </a:ext>
            </a:extLst>
          </p:cNvPr>
          <p:cNvSpPr>
            <a:spLocks noGrp="1"/>
          </p:cNvSpPr>
          <p:nvPr/>
        </p:nvSpPr>
        <p:spPr>
          <a:xfrm>
            <a:off x="723900" y="1807210"/>
            <a:ext cx="2152650" cy="1162050"/>
          </a:xfrm>
          <a:prstGeom prst="rect">
            <a:avLst/>
          </a:prstGeom>
          <a:solidFill>
            <a:srgbClr val="FCFAF6"/>
          </a:solidFill>
          <a:ln w="10478">
            <a:solidFill>
              <a:srgbClr val="D8C7AA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C6894B3-F20F-8087-9BFC-E0A8B5F0B808}"/>
              </a:ext>
            </a:extLst>
          </p:cNvPr>
          <p:cNvSpPr>
            <a:spLocks noGrp="1"/>
          </p:cNvSpPr>
          <p:nvPr/>
        </p:nvSpPr>
        <p:spPr>
          <a:xfrm>
            <a:off x="857250" y="194056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ctr">
              <a:defRPr sz="1275" b="1">
                <a:solidFill>
                  <a:srgbClr val="315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315E8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997558-48FD-29D8-F26F-2B86D03FA869}"/>
              </a:ext>
            </a:extLst>
          </p:cNvPr>
          <p:cNvSpPr>
            <a:spLocks noGrp="1"/>
          </p:cNvSpPr>
          <p:nvPr/>
        </p:nvSpPr>
        <p:spPr>
          <a:xfrm>
            <a:off x="1257300" y="1950085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l">
              <a:def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查连接</a:t>
            </a:r>
            <a:endParaRPr sz="1600" b="1" dirty="0">
              <a:solidFill>
                <a:srgbClr val="2B241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95DC541-578B-0BBB-EF43-70CF5212A26E}"/>
              </a:ext>
            </a:extLst>
          </p:cNvPr>
          <p:cNvSpPr>
            <a:spLocks noGrp="1"/>
          </p:cNvSpPr>
          <p:nvPr/>
        </p:nvSpPr>
        <p:spPr>
          <a:xfrm>
            <a:off x="942975" y="2299335"/>
            <a:ext cx="20764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两端都启动后建立</a:t>
            </a:r>
            <a:r>
              <a:rPr lang="en-US" altLang="zh-CN" sz="1600" b="0" dirty="0" err="1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Websocket</a:t>
            </a:r>
            <a:r>
              <a:rPr lang="zh-CN" altLang="en-US" sz="1600" b="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连接</a:t>
            </a:r>
            <a:endParaRPr sz="1600" b="0" dirty="0">
              <a:solidFill>
                <a:srgbClr val="6E625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F8054A0-82E6-321A-2D82-68A5B28BBB95}"/>
              </a:ext>
            </a:extLst>
          </p:cNvPr>
          <p:cNvSpPr>
            <a:spLocks noGrp="1"/>
          </p:cNvSpPr>
          <p:nvPr/>
        </p:nvSpPr>
        <p:spPr>
          <a:xfrm>
            <a:off x="3581400" y="1807210"/>
            <a:ext cx="2152650" cy="1162050"/>
          </a:xfrm>
          <a:prstGeom prst="rect">
            <a:avLst/>
          </a:prstGeom>
          <a:solidFill>
            <a:srgbClr val="FCFAF6"/>
          </a:solidFill>
          <a:ln w="10478">
            <a:solidFill>
              <a:srgbClr val="D8C7AA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E42299E-6D5D-9F38-90BD-FE8F2F80550F}"/>
              </a:ext>
            </a:extLst>
          </p:cNvPr>
          <p:cNvSpPr>
            <a:spLocks noGrp="1"/>
          </p:cNvSpPr>
          <p:nvPr/>
        </p:nvSpPr>
        <p:spPr>
          <a:xfrm>
            <a:off x="3714750" y="194056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ctr">
              <a:defRPr sz="1275" b="1">
                <a:solidFill>
                  <a:srgbClr val="315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315E8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F559DFE-F1D8-5166-489F-79E1DB5AF01F}"/>
              </a:ext>
            </a:extLst>
          </p:cNvPr>
          <p:cNvSpPr>
            <a:spLocks noGrp="1"/>
          </p:cNvSpPr>
          <p:nvPr/>
        </p:nvSpPr>
        <p:spPr>
          <a:xfrm>
            <a:off x="4114800" y="1950085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l">
              <a:def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生成</a:t>
            </a:r>
            <a:r>
              <a:rPr sz="1600" b="1" dirty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 payload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71ACD4-C99C-A967-77BC-425A235AE4F0}"/>
              </a:ext>
            </a:extLst>
          </p:cNvPr>
          <p:cNvSpPr>
            <a:spLocks noGrp="1"/>
          </p:cNvSpPr>
          <p:nvPr/>
        </p:nvSpPr>
        <p:spPr>
          <a:xfrm>
            <a:off x="3736816" y="2299335"/>
            <a:ext cx="2404269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动作</a:t>
            </a:r>
            <a:r>
              <a:rPr lang="en-US" altLang="zh-CN" sz="160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ID</a:t>
            </a:r>
            <a:r>
              <a:rPr lang="zh-CN" altLang="en-US" sz="160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160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Agent ID</a:t>
            </a:r>
            <a:r>
              <a:rPr lang="zh-CN" altLang="en-US" sz="160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、</a:t>
            </a:r>
            <a:endParaRPr lang="en-US" altLang="zh-CN" sz="1600" dirty="0">
              <a:solidFill>
                <a:srgbClr val="6E625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动作类别、指令等</a:t>
            </a:r>
            <a:endParaRPr lang="zh-CN" altLang="en-US" sz="1600" b="0" dirty="0">
              <a:solidFill>
                <a:srgbClr val="6E625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18DC777-2C97-AB59-2CA5-45337D3D86EA}"/>
              </a:ext>
            </a:extLst>
          </p:cNvPr>
          <p:cNvSpPr>
            <a:spLocks noGrp="1"/>
          </p:cNvSpPr>
          <p:nvPr/>
        </p:nvSpPr>
        <p:spPr>
          <a:xfrm>
            <a:off x="6438900" y="1807210"/>
            <a:ext cx="2152650" cy="1162050"/>
          </a:xfrm>
          <a:prstGeom prst="rect">
            <a:avLst/>
          </a:prstGeom>
          <a:solidFill>
            <a:srgbClr val="FCFAF6"/>
          </a:solidFill>
          <a:ln w="10478">
            <a:solidFill>
              <a:srgbClr val="D8C7AA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301D307-7093-8933-42ED-8810515EC238}"/>
              </a:ext>
            </a:extLst>
          </p:cNvPr>
          <p:cNvSpPr>
            <a:spLocks noGrp="1"/>
          </p:cNvSpPr>
          <p:nvPr/>
        </p:nvSpPr>
        <p:spPr>
          <a:xfrm>
            <a:off x="6572250" y="194056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ctr">
              <a:defRPr sz="1275" b="1">
                <a:solidFill>
                  <a:srgbClr val="C39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C3923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7526427-1BC4-815A-8AF2-B7AC3CF3488C}"/>
              </a:ext>
            </a:extLst>
          </p:cNvPr>
          <p:cNvSpPr>
            <a:spLocks noGrp="1"/>
          </p:cNvSpPr>
          <p:nvPr/>
        </p:nvSpPr>
        <p:spPr>
          <a:xfrm>
            <a:off x="6867525" y="1950085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l">
              <a:def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挂 Future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2938CDE-8DC1-3B4A-B66A-DE3DBC769998}"/>
              </a:ext>
            </a:extLst>
          </p:cNvPr>
          <p:cNvSpPr>
            <a:spLocks noGrp="1"/>
          </p:cNvSpPr>
          <p:nvPr/>
        </p:nvSpPr>
        <p:spPr>
          <a:xfrm>
            <a:off x="6438900" y="2252980"/>
            <a:ext cx="25336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f</a:t>
            </a:r>
            <a:r>
              <a:rPr lang="en-US" sz="1600" b="0" dirty="0" err="1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ut</a:t>
            </a:r>
            <a:r>
              <a:rPr lang="zh-CN" altLang="en-US" sz="1600" b="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1600" b="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lang="zh-CN" altLang="en-US" sz="1600" b="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sz="1600" b="0" dirty="0" err="1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create</a:t>
            </a:r>
            <a:r>
              <a:rPr lang="en-US" altLang="zh-CN" sz="1600" b="0" dirty="0" err="1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_</a:t>
            </a:r>
            <a:r>
              <a:rPr lang="en-US" sz="1600" b="0" dirty="0" err="1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future</a:t>
            </a:r>
            <a:r>
              <a:rPr lang="en-US" altLang="zh-CN" sz="1600" b="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()</a:t>
            </a:r>
            <a:endParaRPr lang="en-US" altLang="zh-CN" sz="1600" dirty="0">
              <a:solidFill>
                <a:srgbClr val="6E625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以动作</a:t>
            </a:r>
            <a:r>
              <a:rPr lang="en-US" altLang="zh-CN" sz="1600" b="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ID</a:t>
            </a:r>
            <a:r>
              <a:rPr lang="zh-CN" altLang="en-US" sz="1600" b="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为键放入队列</a:t>
            </a:r>
            <a:endParaRPr lang="en-US" sz="1600" b="0" dirty="0">
              <a:solidFill>
                <a:srgbClr val="6E625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1C2715E-AF50-5E10-8F6E-3C7486E7595F}"/>
              </a:ext>
            </a:extLst>
          </p:cNvPr>
          <p:cNvSpPr>
            <a:spLocks noGrp="1"/>
          </p:cNvSpPr>
          <p:nvPr/>
        </p:nvSpPr>
        <p:spPr>
          <a:xfrm>
            <a:off x="9296400" y="1807210"/>
            <a:ext cx="2152650" cy="1162050"/>
          </a:xfrm>
          <a:prstGeom prst="rect">
            <a:avLst/>
          </a:prstGeom>
          <a:solidFill>
            <a:srgbClr val="FCFAF6"/>
          </a:solidFill>
          <a:ln w="10478">
            <a:solidFill>
              <a:srgbClr val="D8C7AA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E424160-D165-4F7F-2471-66BF0A28738D}"/>
              </a:ext>
            </a:extLst>
          </p:cNvPr>
          <p:cNvSpPr>
            <a:spLocks noGrp="1"/>
          </p:cNvSpPr>
          <p:nvPr/>
        </p:nvSpPr>
        <p:spPr>
          <a:xfrm>
            <a:off x="9429750" y="194056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ctr">
              <a:defRPr sz="1275" b="1">
                <a:solidFill>
                  <a:srgbClr val="C39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C392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D25CBBD-C2C2-35CE-6466-0583144CB11A}"/>
              </a:ext>
            </a:extLst>
          </p:cNvPr>
          <p:cNvSpPr>
            <a:spLocks noGrp="1"/>
          </p:cNvSpPr>
          <p:nvPr/>
        </p:nvSpPr>
        <p:spPr>
          <a:xfrm>
            <a:off x="9829800" y="1950085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l">
              <a:def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发送</a:t>
            </a:r>
            <a:r>
              <a:rPr sz="1600" b="1" dirty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 JSON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4FB7503-43C2-8D1B-353E-CE34E2AB129A}"/>
              </a:ext>
            </a:extLst>
          </p:cNvPr>
          <p:cNvSpPr>
            <a:spLocks noGrp="1"/>
          </p:cNvSpPr>
          <p:nvPr/>
        </p:nvSpPr>
        <p:spPr>
          <a:xfrm>
            <a:off x="9479915" y="2234247"/>
            <a:ext cx="22669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await </a:t>
            </a:r>
            <a:r>
              <a:rPr sz="1600" b="0" dirty="0" err="1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ws.send</a:t>
            </a:r>
            <a:r>
              <a:rPr sz="1600" b="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(...)</a:t>
            </a:r>
          </a:p>
          <a:p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消息离开Python</a:t>
            </a:r>
            <a:endParaRPr lang="en-US" sz="1600" b="0" dirty="0">
              <a:solidFill>
                <a:srgbClr val="6E625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57D6CDE-BD90-F794-4D66-FBA23448E6EF}"/>
              </a:ext>
            </a:extLst>
          </p:cNvPr>
          <p:cNvSpPr>
            <a:spLocks noGrp="1"/>
          </p:cNvSpPr>
          <p:nvPr/>
        </p:nvSpPr>
        <p:spPr>
          <a:xfrm>
            <a:off x="9296400" y="3816350"/>
            <a:ext cx="2152650" cy="1143000"/>
          </a:xfrm>
          <a:prstGeom prst="rect">
            <a:avLst/>
          </a:prstGeom>
          <a:solidFill>
            <a:srgbClr val="FCFAF6"/>
          </a:solidFill>
          <a:ln w="10478">
            <a:solidFill>
              <a:srgbClr val="D8C7AA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48CE73D-9E09-99AC-5FC7-3D71F452E109}"/>
              </a:ext>
            </a:extLst>
          </p:cNvPr>
          <p:cNvSpPr>
            <a:spLocks noGrp="1"/>
          </p:cNvSpPr>
          <p:nvPr/>
        </p:nvSpPr>
        <p:spPr>
          <a:xfrm>
            <a:off x="9429750" y="39497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ctr">
              <a:defRPr sz="1275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929828A-38B6-70C6-C9AB-76DB02FD63DB}"/>
              </a:ext>
            </a:extLst>
          </p:cNvPr>
          <p:cNvSpPr>
            <a:spLocks noGrp="1"/>
          </p:cNvSpPr>
          <p:nvPr/>
        </p:nvSpPr>
        <p:spPr>
          <a:xfrm>
            <a:off x="9829800" y="3959225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l">
              <a:def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Unity </a:t>
            </a:r>
            <a:r>
              <a:rPr sz="1600" b="1" dirty="0" err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路由执行</a:t>
            </a:r>
            <a:endParaRPr sz="1600" b="1" dirty="0">
              <a:solidFill>
                <a:srgbClr val="2B241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1A1759B-D406-7D9F-B4C2-90C38D04C30D}"/>
              </a:ext>
            </a:extLst>
          </p:cNvPr>
          <p:cNvSpPr>
            <a:spLocks noGrp="1"/>
          </p:cNvSpPr>
          <p:nvPr/>
        </p:nvSpPr>
        <p:spPr>
          <a:xfrm>
            <a:off x="9496425" y="4203064"/>
            <a:ext cx="1885950" cy="7562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代理路由根据指令类型分发消息</a:t>
            </a:r>
            <a:endParaRPr sz="1600" b="0" dirty="0">
              <a:solidFill>
                <a:srgbClr val="6E625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BAD09C6-E7C3-4875-6898-0C7807B4819A}"/>
              </a:ext>
            </a:extLst>
          </p:cNvPr>
          <p:cNvSpPr>
            <a:spLocks noGrp="1"/>
          </p:cNvSpPr>
          <p:nvPr/>
        </p:nvSpPr>
        <p:spPr>
          <a:xfrm>
            <a:off x="6438900" y="3816350"/>
            <a:ext cx="2152650" cy="1143000"/>
          </a:xfrm>
          <a:prstGeom prst="rect">
            <a:avLst/>
          </a:prstGeom>
          <a:solidFill>
            <a:srgbClr val="FCFAF6"/>
          </a:solidFill>
          <a:ln w="10478">
            <a:solidFill>
              <a:srgbClr val="D8C7AA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5CC9775-9B89-43BF-DE52-2CEDCF54FCEF}"/>
              </a:ext>
            </a:extLst>
          </p:cNvPr>
          <p:cNvSpPr>
            <a:spLocks noGrp="1"/>
          </p:cNvSpPr>
          <p:nvPr/>
        </p:nvSpPr>
        <p:spPr>
          <a:xfrm>
            <a:off x="6572250" y="39497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ctr">
              <a:defRPr sz="1275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C2CB7B1-12CB-DF07-4DF2-8B31CD52E54E}"/>
              </a:ext>
            </a:extLst>
          </p:cNvPr>
          <p:cNvSpPr>
            <a:spLocks noGrp="1"/>
          </p:cNvSpPr>
          <p:nvPr/>
        </p:nvSpPr>
        <p:spPr>
          <a:xfrm>
            <a:off x="6900863" y="3965893"/>
            <a:ext cx="1619250" cy="24383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l">
              <a:def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发送</a:t>
            </a:r>
            <a:r>
              <a:rPr sz="1600" b="1" dirty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 complete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61D56C9-EA0E-5A33-921A-FF950B5B6C8B}"/>
              </a:ext>
            </a:extLst>
          </p:cNvPr>
          <p:cNvSpPr>
            <a:spLocks noGrp="1"/>
          </p:cNvSpPr>
          <p:nvPr/>
        </p:nvSpPr>
        <p:spPr>
          <a:xfrm>
            <a:off x="6577013" y="4255769"/>
            <a:ext cx="19431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协程继续运行</a:t>
            </a:r>
            <a:endParaRPr lang="en-US" altLang="zh-CN" sz="1600" dirty="0">
              <a:solidFill>
                <a:srgbClr val="6E625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返回</a:t>
            </a:r>
            <a:r>
              <a:rPr lang="en-US" altLang="zh-CN" sz="1600" b="0" dirty="0" err="1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complate</a:t>
            </a:r>
            <a:endParaRPr sz="1600" b="0" dirty="0">
              <a:solidFill>
                <a:srgbClr val="6E625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237197E-CB14-9630-8343-C591996F431B}"/>
              </a:ext>
            </a:extLst>
          </p:cNvPr>
          <p:cNvSpPr>
            <a:spLocks noGrp="1"/>
          </p:cNvSpPr>
          <p:nvPr/>
        </p:nvSpPr>
        <p:spPr>
          <a:xfrm>
            <a:off x="3581400" y="3816350"/>
            <a:ext cx="2152650" cy="1143000"/>
          </a:xfrm>
          <a:prstGeom prst="rect">
            <a:avLst/>
          </a:prstGeom>
          <a:solidFill>
            <a:srgbClr val="FCFAF6"/>
          </a:solidFill>
          <a:ln w="10478">
            <a:solidFill>
              <a:srgbClr val="D8C7AA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07D9876-FCF2-AF9A-2EC9-130AA43E7510}"/>
              </a:ext>
            </a:extLst>
          </p:cNvPr>
          <p:cNvSpPr>
            <a:spLocks noGrp="1"/>
          </p:cNvSpPr>
          <p:nvPr/>
        </p:nvSpPr>
        <p:spPr>
          <a:xfrm>
            <a:off x="3714750" y="39497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ctr">
              <a:defRPr sz="1275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A155166-157C-CEA6-955B-D7B56439C285}"/>
              </a:ext>
            </a:extLst>
          </p:cNvPr>
          <p:cNvSpPr>
            <a:spLocks noGrp="1"/>
          </p:cNvSpPr>
          <p:nvPr/>
        </p:nvSpPr>
        <p:spPr>
          <a:xfrm>
            <a:off x="4000500" y="3948748"/>
            <a:ext cx="1885950" cy="1924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l">
              <a:def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handle </a:t>
            </a:r>
            <a:r>
              <a:rPr sz="1600" b="1" dirty="0" err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收到回执</a:t>
            </a:r>
            <a:endParaRPr sz="1600" b="1" dirty="0">
              <a:solidFill>
                <a:srgbClr val="2B241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00CB47E-AF58-4B8F-8F94-F9C016D269E0}"/>
              </a:ext>
            </a:extLst>
          </p:cNvPr>
          <p:cNvSpPr>
            <a:spLocks noGrp="1"/>
          </p:cNvSpPr>
          <p:nvPr/>
        </p:nvSpPr>
        <p:spPr>
          <a:xfrm>
            <a:off x="3724275" y="4273550"/>
            <a:ext cx="18859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从队列中找到来源，出队</a:t>
            </a:r>
            <a:endParaRPr sz="1600" b="0" dirty="0">
              <a:solidFill>
                <a:srgbClr val="6E625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1B0C9B2-62C0-0446-75DA-F5E107D876CF}"/>
              </a:ext>
            </a:extLst>
          </p:cNvPr>
          <p:cNvSpPr>
            <a:spLocks noGrp="1"/>
          </p:cNvSpPr>
          <p:nvPr/>
        </p:nvSpPr>
        <p:spPr>
          <a:xfrm>
            <a:off x="723900" y="3816350"/>
            <a:ext cx="2152650" cy="1143000"/>
          </a:xfrm>
          <a:prstGeom prst="rect">
            <a:avLst/>
          </a:prstGeom>
          <a:solidFill>
            <a:srgbClr val="FCFAF6"/>
          </a:solidFill>
          <a:ln w="10478">
            <a:solidFill>
              <a:srgbClr val="D8C7AA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D1FB2C5-9506-9696-B6A2-200B3B5197D1}"/>
              </a:ext>
            </a:extLst>
          </p:cNvPr>
          <p:cNvSpPr>
            <a:spLocks noGrp="1"/>
          </p:cNvSpPr>
          <p:nvPr/>
        </p:nvSpPr>
        <p:spPr>
          <a:xfrm>
            <a:off x="857250" y="39497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ctr">
              <a:defRPr sz="1275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A0DDD40A-FFD7-3609-015F-62C7C59B144D}"/>
              </a:ext>
            </a:extLst>
          </p:cNvPr>
          <p:cNvSpPr>
            <a:spLocks noGrp="1"/>
          </p:cNvSpPr>
          <p:nvPr/>
        </p:nvSpPr>
        <p:spPr>
          <a:xfrm>
            <a:off x="1257300" y="3959225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l">
              <a:def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await 恢复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2D8A0BA-B001-A6D4-9A73-B39DA4D5F1F1}"/>
              </a:ext>
            </a:extLst>
          </p:cNvPr>
          <p:cNvSpPr>
            <a:spLocks noGrp="1"/>
          </p:cNvSpPr>
          <p:nvPr/>
        </p:nvSpPr>
        <p:spPr>
          <a:xfrm>
            <a:off x="866774" y="4253864"/>
            <a:ext cx="2009775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0" dirty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拿到消息后恢复运行，超时则清理重试</a:t>
            </a:r>
            <a:endParaRPr sz="1600" b="0" dirty="0">
              <a:solidFill>
                <a:srgbClr val="6E625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0A514217-127F-407C-8B6C-C720C8256BAB}"/>
              </a:ext>
            </a:extLst>
          </p:cNvPr>
          <p:cNvSpPr>
            <a:spLocks noGrp="1"/>
          </p:cNvSpPr>
          <p:nvPr/>
        </p:nvSpPr>
        <p:spPr>
          <a:xfrm>
            <a:off x="2171700" y="1307782"/>
            <a:ext cx="2152650" cy="323850"/>
          </a:xfrm>
          <a:prstGeom prst="rect">
            <a:avLst/>
          </a:prstGeom>
          <a:solidFill>
            <a:srgbClr val="315E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A45F072-DDBC-4B51-8C58-47FA592AFAD7}"/>
              </a:ext>
            </a:extLst>
          </p:cNvPr>
          <p:cNvSpPr>
            <a:spLocks noGrp="1"/>
          </p:cNvSpPr>
          <p:nvPr/>
        </p:nvSpPr>
        <p:spPr>
          <a:xfrm>
            <a:off x="2228850" y="1345247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连接与消息构造</a:t>
            </a:r>
            <a:endParaRPr sz="14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DBDE3F0-10B9-4373-9803-4DF4C8F43BCD}"/>
              </a:ext>
            </a:extLst>
          </p:cNvPr>
          <p:cNvSpPr>
            <a:spLocks noGrp="1"/>
          </p:cNvSpPr>
          <p:nvPr/>
        </p:nvSpPr>
        <p:spPr>
          <a:xfrm>
            <a:off x="7833360" y="1309687"/>
            <a:ext cx="2152650" cy="323850"/>
          </a:xfrm>
          <a:prstGeom prst="rect">
            <a:avLst/>
          </a:prstGeom>
          <a:solidFill>
            <a:srgbClr val="C392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54EA01D-6467-46B5-9279-FA30D396FD03}"/>
              </a:ext>
            </a:extLst>
          </p:cNvPr>
          <p:cNvSpPr>
            <a:spLocks noGrp="1"/>
          </p:cNvSpPr>
          <p:nvPr/>
        </p:nvSpPr>
        <p:spPr>
          <a:xfrm>
            <a:off x="7890510" y="1345247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挂起等待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6700B29-4F0D-49F9-BBE7-57866104B550}"/>
              </a:ext>
            </a:extLst>
          </p:cNvPr>
          <p:cNvSpPr>
            <a:spLocks noGrp="1"/>
          </p:cNvSpPr>
          <p:nvPr/>
        </p:nvSpPr>
        <p:spPr>
          <a:xfrm>
            <a:off x="2171700" y="3370580"/>
            <a:ext cx="2152650" cy="323850"/>
          </a:xfrm>
          <a:prstGeom prst="rect">
            <a:avLst/>
          </a:prstGeom>
          <a:solidFill>
            <a:srgbClr val="7448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3C4EED5-BCD2-4547-87CB-38D47C87723D}"/>
              </a:ext>
            </a:extLst>
          </p:cNvPr>
          <p:cNvSpPr>
            <a:spLocks noGrp="1"/>
          </p:cNvSpPr>
          <p:nvPr/>
        </p:nvSpPr>
        <p:spPr>
          <a:xfrm>
            <a:off x="2244089" y="3406774"/>
            <a:ext cx="2038350" cy="314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Unity 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</a:t>
            </a:r>
            <a:endParaRPr sz="14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F46FCB5B-6046-44DF-934D-7C64C638AF17}"/>
              </a:ext>
            </a:extLst>
          </p:cNvPr>
          <p:cNvSpPr>
            <a:spLocks noGrp="1"/>
          </p:cNvSpPr>
          <p:nvPr/>
        </p:nvSpPr>
        <p:spPr>
          <a:xfrm>
            <a:off x="7833360" y="3370580"/>
            <a:ext cx="2152650" cy="323850"/>
          </a:xfrm>
          <a:prstGeom prst="rect">
            <a:avLst/>
          </a:prstGeom>
          <a:solidFill>
            <a:srgbClr val="276B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006DCB2-CA28-404D-A2C2-D4CCBF2EC61C}"/>
              </a:ext>
            </a:extLst>
          </p:cNvPr>
          <p:cNvSpPr>
            <a:spLocks noGrp="1"/>
          </p:cNvSpPr>
          <p:nvPr/>
        </p:nvSpPr>
        <p:spPr>
          <a:xfrm>
            <a:off x="7905750" y="3416617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t"/>
          <a:lstStyle/>
          <a:p>
            <a: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回执恢复</a:t>
            </a:r>
            <a:endParaRPr sz="14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D8361BA4-B36F-DB0C-E084-B57D7B8AD7FB}"/>
              </a:ext>
            </a:extLst>
          </p:cNvPr>
          <p:cNvCxnSpPr>
            <a:stCxn id="29" idx="3"/>
            <a:endCxn id="34" idx="1"/>
          </p:cNvCxnSpPr>
          <p:nvPr/>
        </p:nvCxnSpPr>
        <p:spPr>
          <a:xfrm>
            <a:off x="2876550" y="2388235"/>
            <a:ext cx="7048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09683A90-CE2C-7614-5310-B49618B91B23}"/>
              </a:ext>
            </a:extLst>
          </p:cNvPr>
          <p:cNvCxnSpPr>
            <a:cxnSpLocks/>
            <a:stCxn id="34" idx="3"/>
            <a:endCxn id="39" idx="1"/>
          </p:cNvCxnSpPr>
          <p:nvPr/>
        </p:nvCxnSpPr>
        <p:spPr>
          <a:xfrm>
            <a:off x="5734050" y="2388235"/>
            <a:ext cx="7048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6049459D-E4EC-8BA9-11DD-3043A283B7B1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8591550" y="2388235"/>
            <a:ext cx="7048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F442F5CA-9D0A-E17E-7E1F-39B142C74B5A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8591550" y="4387850"/>
            <a:ext cx="7048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7C4BA0E9-23F8-F6E1-3C13-8DC0AED8B1BB}"/>
              </a:ext>
            </a:extLst>
          </p:cNvPr>
          <p:cNvCxnSpPr>
            <a:cxnSpLocks/>
            <a:stCxn id="54" idx="1"/>
            <a:endCxn id="59" idx="3"/>
          </p:cNvCxnSpPr>
          <p:nvPr/>
        </p:nvCxnSpPr>
        <p:spPr>
          <a:xfrm flipH="1">
            <a:off x="5734050" y="4387850"/>
            <a:ext cx="7048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25884057-9962-7721-301C-B3190A625946}"/>
              </a:ext>
            </a:extLst>
          </p:cNvPr>
          <p:cNvCxnSpPr>
            <a:cxnSpLocks/>
            <a:stCxn id="59" idx="1"/>
            <a:endCxn id="64" idx="3"/>
          </p:cNvCxnSpPr>
          <p:nvPr/>
        </p:nvCxnSpPr>
        <p:spPr>
          <a:xfrm flipH="1">
            <a:off x="2876550" y="4387850"/>
            <a:ext cx="7048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7BBC078C-6491-642A-F2BA-869941BE0CBD}"/>
              </a:ext>
            </a:extLst>
          </p:cNvPr>
          <p:cNvCxnSpPr>
            <a:cxnSpLocks/>
            <a:stCxn id="44" idx="2"/>
            <a:endCxn id="49" idx="0"/>
          </p:cNvCxnSpPr>
          <p:nvPr/>
        </p:nvCxnSpPr>
        <p:spPr>
          <a:xfrm>
            <a:off x="10372725" y="2969260"/>
            <a:ext cx="0" cy="8470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6" name="图片 75">
            <a:extLst>
              <a:ext uri="{FF2B5EF4-FFF2-40B4-BE49-F238E27FC236}">
                <a16:creationId xmlns:a16="http://schemas.microsoft.com/office/drawing/2014/main" id="{5C2B65B5-7CA0-8428-A628-F1E660694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266681" y="3205789"/>
            <a:ext cx="388823" cy="37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185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F74201-142D-1C5C-5083-670702843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CD986B1-3279-B496-E7D1-76DBC8895C91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3508FD-7912-0257-5BF6-59F1C6E95BA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25" b="1" dirty="0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1125" b="1" dirty="0">
              <a:solidFill>
                <a:srgbClr val="A3403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365EC2-BA04-B354-6B45-E95C9D68DE2C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17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RPC</a:t>
            </a:r>
            <a:r>
              <a:rPr lang="zh-CN" altLang="en-US" sz="217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风格通信</a:t>
            </a:r>
            <a:endParaRPr sz="217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58FE17-4BA3-0778-0BB2-5AD24E3A987D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把</a:t>
            </a:r>
            <a:r>
              <a:rPr lang="en-US" altLang="zh-CN" sz="1125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Unity</a:t>
            </a:r>
            <a:r>
              <a:rPr lang="zh-CN" altLang="en-US" sz="1125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当成远端动作服务</a:t>
            </a:r>
            <a:endParaRPr sz="1125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A87BE133-C544-E997-E7DF-F065B88FB8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88" y="447675"/>
            <a:ext cx="10818286" cy="608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075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8A658CD-782F-4A74-A667-30303A0B3841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2A68B2-0A67-4D6E-A470-3CD887613AA8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25" b="1" dirty="0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125" b="1" dirty="0">
              <a:solidFill>
                <a:srgbClr val="A3403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533EC5-BBAE-466F-B4AA-F6E11E8E2744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经济系统</a:t>
            </a:r>
            <a:endParaRPr sz="217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B8912E-FA4B-41A8-8199-194C064A42CD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均值回归 + 对数噪声 + 库存恢复 + 交易摩擦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DA4CAE-B1B9-4F00-AFBE-989879328166}"/>
              </a:ext>
            </a:extLst>
          </p:cNvPr>
          <p:cNvSpPr>
            <a:spLocks noGrp="1"/>
          </p:cNvSpPr>
          <p:nvPr/>
        </p:nvSpPr>
        <p:spPr>
          <a:xfrm>
            <a:off x="1515091" y="1314450"/>
            <a:ext cx="4953000" cy="20193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3E1CC2-C693-4B92-8F18-052D36CFEF9A}"/>
              </a:ext>
            </a:extLst>
          </p:cNvPr>
          <p:cNvSpPr>
            <a:spLocks noGrp="1"/>
          </p:cNvSpPr>
          <p:nvPr/>
        </p:nvSpPr>
        <p:spPr>
          <a:xfrm>
            <a:off x="1553191" y="158115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价格模型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C937C5-8A46-4028-B094-159D5949292E}"/>
              </a:ext>
            </a:extLst>
          </p:cNvPr>
          <p:cNvSpPr>
            <a:spLocks noGrp="1"/>
          </p:cNvSpPr>
          <p:nvPr/>
        </p:nvSpPr>
        <p:spPr>
          <a:xfrm>
            <a:off x="1610341" y="207645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92819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 dirty="0">
                <a:solidFill>
                  <a:srgbClr val="392819"/>
                </a:solidFill>
                <a:latin typeface="Cambria Math"/>
                <a:ea typeface="Cambria Math"/>
                <a:cs typeface="Cambria Math"/>
              </a:rPr>
              <a:t>log Pₜ₊₁ = log Pₜ + κ(log P* − log Pₜ) + εₜ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8C8B57-7700-49A8-8A5E-BF91EF710FD6}"/>
              </a:ext>
            </a:extLst>
          </p:cNvPr>
          <p:cNvSpPr>
            <a:spLocks noGrp="1"/>
          </p:cNvSpPr>
          <p:nvPr/>
        </p:nvSpPr>
        <p:spPr>
          <a:xfrm>
            <a:off x="1610341" y="2628900"/>
            <a:ext cx="485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εₜ ~ N(0, σ²)，</a:t>
            </a:r>
            <a:r>
              <a:rPr sz="1275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在对数空间建模：价格天然为正，控制相对波动率</a:t>
            </a:r>
            <a:r>
              <a:rPr sz="1275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CD26765-B538-48F9-8DFF-D2C375E9CA02}"/>
              </a:ext>
            </a:extLst>
          </p:cNvPr>
          <p:cNvSpPr>
            <a:spLocks noGrp="1"/>
          </p:cNvSpPr>
          <p:nvPr/>
        </p:nvSpPr>
        <p:spPr>
          <a:xfrm>
            <a:off x="6771640" y="1390650"/>
            <a:ext cx="1524000" cy="10287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294483-0045-4472-94A1-E6733A0E52B9}"/>
              </a:ext>
            </a:extLst>
          </p:cNvPr>
          <p:cNvSpPr>
            <a:spLocks noGrp="1"/>
          </p:cNvSpPr>
          <p:nvPr/>
        </p:nvSpPr>
        <p:spPr>
          <a:xfrm>
            <a:off x="6866890" y="1562100"/>
            <a:ext cx="1333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κ = 0.11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28C1B8-CBFD-4865-95D8-8A1CE2DEE044}"/>
              </a:ext>
            </a:extLst>
          </p:cNvPr>
          <p:cNvSpPr>
            <a:spLocks noGrp="1"/>
          </p:cNvSpPr>
          <p:nvPr/>
        </p:nvSpPr>
        <p:spPr>
          <a:xfrm>
            <a:off x="6885940" y="2000250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约 6 </a:t>
            </a:r>
            <a:r>
              <a:rPr sz="12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天偏离</a:t>
            </a:r>
            <a:endParaRPr lang="en-US" sz="1200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9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半衰期</a:t>
            </a:r>
            <a:endParaRPr sz="1200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2B0FEF-7053-4E04-A8FA-5A3E84814706}"/>
              </a:ext>
            </a:extLst>
          </p:cNvPr>
          <p:cNvSpPr>
            <a:spLocks noGrp="1"/>
          </p:cNvSpPr>
          <p:nvPr/>
        </p:nvSpPr>
        <p:spPr>
          <a:xfrm>
            <a:off x="8543290" y="1390650"/>
            <a:ext cx="1524000" cy="10287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B278A5-8A33-44C9-B9DE-B4CD7EF30C84}"/>
              </a:ext>
            </a:extLst>
          </p:cNvPr>
          <p:cNvSpPr>
            <a:spLocks noGrp="1"/>
          </p:cNvSpPr>
          <p:nvPr/>
        </p:nvSpPr>
        <p:spPr>
          <a:xfrm>
            <a:off x="8638540" y="1562100"/>
            <a:ext cx="1333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σ = 0.15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3AFF65-1BB6-4D00-8A97-583AFB8508B8}"/>
              </a:ext>
            </a:extLst>
          </p:cNvPr>
          <p:cNvSpPr>
            <a:spLocks noGrp="1"/>
          </p:cNvSpPr>
          <p:nvPr/>
        </p:nvSpPr>
        <p:spPr>
          <a:xfrm>
            <a:off x="8696325" y="1894840"/>
            <a:ext cx="1217930" cy="5054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消耗品</a:t>
            </a:r>
            <a:endParaRPr lang="en-US" sz="2000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9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约</a:t>
            </a:r>
            <a:r>
              <a:rPr lang="zh-CN" altLang="en-US"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±16%</a:t>
            </a:r>
            <a:endParaRPr sz="1200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9E847E7-A173-4843-A7F3-AA82988996FB}"/>
              </a:ext>
            </a:extLst>
          </p:cNvPr>
          <p:cNvSpPr>
            <a:spLocks noGrp="1"/>
          </p:cNvSpPr>
          <p:nvPr/>
        </p:nvSpPr>
        <p:spPr>
          <a:xfrm>
            <a:off x="10314940" y="1390650"/>
            <a:ext cx="1524000" cy="10287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FA00F10-9F58-460F-A547-4A3F8C97FE1D}"/>
              </a:ext>
            </a:extLst>
          </p:cNvPr>
          <p:cNvSpPr>
            <a:spLocks noGrp="1"/>
          </p:cNvSpPr>
          <p:nvPr/>
        </p:nvSpPr>
        <p:spPr>
          <a:xfrm>
            <a:off x="10410190" y="1562100"/>
            <a:ext cx="1333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rPr>
              <a:t>σ = 0.4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F834DFC-1876-484A-8AD7-29423440B4DF}"/>
              </a:ext>
            </a:extLst>
          </p:cNvPr>
          <p:cNvSpPr>
            <a:spLocks noGrp="1"/>
          </p:cNvSpPr>
          <p:nvPr/>
        </p:nvSpPr>
        <p:spPr>
          <a:xfrm>
            <a:off x="10410190" y="1894840"/>
            <a:ext cx="1295400" cy="5054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贵重品</a:t>
            </a:r>
            <a:endParaRPr lang="en-US" sz="2000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9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r>
              <a:rPr sz="1200" b="0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 ±50%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6894D04-A66A-41C4-B88B-DB538FD3E5D7}"/>
              </a:ext>
            </a:extLst>
          </p:cNvPr>
          <p:cNvSpPr>
            <a:spLocks noGrp="1"/>
          </p:cNvSpPr>
          <p:nvPr/>
        </p:nvSpPr>
        <p:spPr>
          <a:xfrm>
            <a:off x="1515084" y="3525868"/>
            <a:ext cx="3714750" cy="32385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F1EA713-15A1-41E7-92E6-5F1050B22D6E}"/>
              </a:ext>
            </a:extLst>
          </p:cNvPr>
          <p:cNvSpPr>
            <a:spLocks noGrp="1"/>
          </p:cNvSpPr>
          <p:nvPr/>
        </p:nvSpPr>
        <p:spPr>
          <a:xfrm>
            <a:off x="1705584" y="3583018"/>
            <a:ext cx="1664494" cy="1498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基本面锚点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EFFFB44-955D-4984-AF96-895671DDF769}"/>
              </a:ext>
            </a:extLst>
          </p:cNvPr>
          <p:cNvSpPr>
            <a:spLocks noGrp="1"/>
          </p:cNvSpPr>
          <p:nvPr/>
        </p:nvSpPr>
        <p:spPr>
          <a:xfrm>
            <a:off x="2973044" y="3532535"/>
            <a:ext cx="1775460" cy="2333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A34032"/>
                </a:solidFill>
                <a:latin typeface="Consolas"/>
                <a:ea typeface="Consolas"/>
                <a:cs typeface="Consolas"/>
              </a:defRPr>
            </a:pPr>
            <a:r>
              <a:rPr sz="1400" b="0" dirty="0" err="1">
                <a:solidFill>
                  <a:srgbClr val="A34032"/>
                </a:solidFill>
                <a:latin typeface="Consolas"/>
                <a:ea typeface="Consolas"/>
                <a:cs typeface="Consolas"/>
              </a:rPr>
              <a:t>basePrice</a:t>
            </a:r>
            <a:endParaRPr sz="1400" b="0" dirty="0">
              <a:solidFill>
                <a:srgbClr val="A3403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54EC55C-82B5-46E0-A324-E908D91863D5}"/>
              </a:ext>
            </a:extLst>
          </p:cNvPr>
          <p:cNvSpPr>
            <a:spLocks noGrp="1"/>
          </p:cNvSpPr>
          <p:nvPr/>
        </p:nvSpPr>
        <p:spPr>
          <a:xfrm>
            <a:off x="1515084" y="3964018"/>
            <a:ext cx="3714750" cy="323850"/>
          </a:xfrm>
          <a:prstGeom prst="rect">
            <a:avLst/>
          </a:prstGeom>
          <a:solidFill>
            <a:srgbClr val="FFF8E8">
              <a:alpha val="8000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58B9E3-3FE4-4C6E-A62A-9AF1F6919B37}"/>
              </a:ext>
            </a:extLst>
          </p:cNvPr>
          <p:cNvSpPr>
            <a:spLocks noGrp="1"/>
          </p:cNvSpPr>
          <p:nvPr/>
        </p:nvSpPr>
        <p:spPr>
          <a:xfrm>
            <a:off x="1705584" y="4021168"/>
            <a:ext cx="1664494" cy="1498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交易摩擦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E42261E-4103-41DC-BF01-6FFF2E2578DB}"/>
              </a:ext>
            </a:extLst>
          </p:cNvPr>
          <p:cNvSpPr>
            <a:spLocks noGrp="1"/>
          </p:cNvSpPr>
          <p:nvPr/>
        </p:nvSpPr>
        <p:spPr>
          <a:xfrm>
            <a:off x="2973044" y="3990371"/>
            <a:ext cx="1775460" cy="1498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A34032"/>
                </a:solidFill>
                <a:latin typeface="Consolas"/>
                <a:ea typeface="Consolas"/>
                <a:cs typeface="Consolas"/>
              </a:defRPr>
            </a:pPr>
            <a:r>
              <a:rPr sz="1400" b="0" dirty="0" err="1">
                <a:solidFill>
                  <a:srgbClr val="A34032"/>
                </a:solidFill>
                <a:latin typeface="Consolas"/>
                <a:ea typeface="Consolas"/>
                <a:cs typeface="Consolas"/>
              </a:rPr>
              <a:t>sellRatio</a:t>
            </a:r>
            <a:endParaRPr sz="1400" b="0" dirty="0">
              <a:solidFill>
                <a:srgbClr val="A3403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6AB92E2-D46C-4179-BD45-DB34006E7D75}"/>
              </a:ext>
            </a:extLst>
          </p:cNvPr>
          <p:cNvSpPr>
            <a:spLocks noGrp="1"/>
          </p:cNvSpPr>
          <p:nvPr/>
        </p:nvSpPr>
        <p:spPr>
          <a:xfrm>
            <a:off x="1515084" y="4402168"/>
            <a:ext cx="3714750" cy="32385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423AAE1-C692-4B9A-A808-18099FE43A29}"/>
              </a:ext>
            </a:extLst>
          </p:cNvPr>
          <p:cNvSpPr>
            <a:spLocks noGrp="1"/>
          </p:cNvSpPr>
          <p:nvPr/>
        </p:nvSpPr>
        <p:spPr>
          <a:xfrm>
            <a:off x="1705584" y="4459318"/>
            <a:ext cx="1664494" cy="1498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供给约束</a:t>
            </a:r>
            <a:endParaRPr sz="1400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475F1C-C475-4821-9BCD-A146A4112AEA}"/>
              </a:ext>
            </a:extLst>
          </p:cNvPr>
          <p:cNvSpPr>
            <a:spLocks noGrp="1"/>
          </p:cNvSpPr>
          <p:nvPr/>
        </p:nvSpPr>
        <p:spPr>
          <a:xfrm>
            <a:off x="2973044" y="4430743"/>
            <a:ext cx="1775460" cy="2619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A34032"/>
                </a:solidFill>
                <a:latin typeface="Consolas"/>
                <a:ea typeface="Consolas"/>
                <a:cs typeface="Consolas"/>
              </a:defRPr>
            </a:pPr>
            <a:r>
              <a:rPr sz="1400" b="0" dirty="0">
                <a:solidFill>
                  <a:srgbClr val="A34032"/>
                </a:solidFill>
                <a:latin typeface="Consolas"/>
                <a:ea typeface="Consolas"/>
                <a:cs typeface="Consolas"/>
              </a:rPr>
              <a:t>stock + restock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C976C81-D551-4A1C-A643-57EBC277B80E}"/>
              </a:ext>
            </a:extLst>
          </p:cNvPr>
          <p:cNvSpPr>
            <a:spLocks noGrp="1"/>
          </p:cNvSpPr>
          <p:nvPr/>
        </p:nvSpPr>
        <p:spPr>
          <a:xfrm>
            <a:off x="1515084" y="4840318"/>
            <a:ext cx="3714750" cy="323850"/>
          </a:xfrm>
          <a:prstGeom prst="rect">
            <a:avLst/>
          </a:prstGeom>
          <a:solidFill>
            <a:srgbClr val="FFF8E8">
              <a:alpha val="8000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C3A21F5-8841-48DC-AE13-056AD30C1E2D}"/>
              </a:ext>
            </a:extLst>
          </p:cNvPr>
          <p:cNvSpPr>
            <a:spLocks noGrp="1"/>
          </p:cNvSpPr>
          <p:nvPr/>
        </p:nvSpPr>
        <p:spPr>
          <a:xfrm>
            <a:off x="1705584" y="4897467"/>
            <a:ext cx="1664494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品类风险</a:t>
            </a:r>
            <a:endParaRPr sz="1400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E27DA12-9F4E-493B-8875-F2B0743B96EA}"/>
              </a:ext>
            </a:extLst>
          </p:cNvPr>
          <p:cNvSpPr>
            <a:spLocks noGrp="1"/>
          </p:cNvSpPr>
          <p:nvPr/>
        </p:nvSpPr>
        <p:spPr>
          <a:xfrm>
            <a:off x="2973044" y="4868893"/>
            <a:ext cx="246634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A34032"/>
                </a:solidFill>
                <a:latin typeface="Consolas"/>
                <a:ea typeface="Consolas"/>
                <a:cs typeface="Consolas"/>
              </a:defRPr>
            </a:pPr>
            <a:r>
              <a:rPr sz="1400" b="0" dirty="0">
                <a:solidFill>
                  <a:srgbClr val="A34032"/>
                </a:solidFill>
                <a:latin typeface="Consolas"/>
                <a:ea typeface="Consolas"/>
                <a:cs typeface="Consolas"/>
              </a:rPr>
              <a:t>consumable / valuable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509C449-02B3-4703-857B-03257D1AB6D5}"/>
              </a:ext>
            </a:extLst>
          </p:cNvPr>
          <p:cNvSpPr>
            <a:spLocks noGrp="1"/>
          </p:cNvSpPr>
          <p:nvPr/>
        </p:nvSpPr>
        <p:spPr>
          <a:xfrm>
            <a:off x="7097223" y="3803972"/>
            <a:ext cx="4286250" cy="1428750"/>
          </a:xfrm>
          <a:prstGeom prst="rect">
            <a:avLst/>
          </a:prstGeom>
          <a:solidFill>
            <a:srgbClr val="FFFFFF">
              <a:alpha val="9098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44CE4B-3970-4342-9D94-B32B84DAB9B5}"/>
              </a:ext>
            </a:extLst>
          </p:cNvPr>
          <p:cNvSpPr>
            <a:spLocks noGrp="1"/>
          </p:cNvSpPr>
          <p:nvPr/>
        </p:nvSpPr>
        <p:spPr>
          <a:xfrm>
            <a:off x="7097223" y="3803972"/>
            <a:ext cx="69482" cy="1428750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8AF955C-D0D9-44AB-A43C-A2BAD1FDDE19}"/>
              </a:ext>
            </a:extLst>
          </p:cNvPr>
          <p:cNvSpPr>
            <a:spLocks noGrp="1"/>
          </p:cNvSpPr>
          <p:nvPr/>
        </p:nvSpPr>
        <p:spPr>
          <a:xfrm>
            <a:off x="7306773" y="3975422"/>
            <a:ext cx="4069656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设计结果</a:t>
            </a:r>
            <a:endParaRPr sz="1500" b="1" dirty="0">
              <a:solidFill>
                <a:srgbClr val="355F4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07E9D38-7F60-4805-A116-500004112A32}"/>
              </a:ext>
            </a:extLst>
          </p:cNvPr>
          <p:cNvSpPr>
            <a:spLocks noGrp="1"/>
          </p:cNvSpPr>
          <p:nvPr/>
        </p:nvSpPr>
        <p:spPr>
          <a:xfrm>
            <a:off x="7306772" y="4327644"/>
            <a:ext cx="3471477" cy="66709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消耗品偏稳定，支撑生存节奏</a:t>
            </a:r>
            <a:r>
              <a:rPr sz="14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；</a:t>
            </a:r>
            <a:endParaRPr lang="en-US" sz="14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贵重品偏投机，提供财富博弈窗口</a:t>
            </a:r>
            <a:r>
              <a:rPr sz="14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4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市场会持续给出机会</a:t>
            </a:r>
            <a:r>
              <a:rPr sz="14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140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且不会瞬间</a:t>
            </a:r>
            <a:r>
              <a:rPr sz="14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失控</a:t>
            </a:r>
            <a:r>
              <a:rPr sz="14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49600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CB1AD75-9658-4B01-AA5D-C2A3D81A6B6C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3590B7-768D-409C-8594-CA20EA267498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25" b="1" dirty="0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1125" b="1" dirty="0">
              <a:solidFill>
                <a:srgbClr val="A3403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EFC569-D51B-4EE1-BD74-6E49C5B83577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玩家与</a:t>
            </a:r>
            <a:r>
              <a:rPr sz="217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 AI </a:t>
            </a:r>
            <a:r>
              <a:rPr sz="217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的不对称博弈</a:t>
            </a:r>
            <a:endParaRPr sz="217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FC6EBB-B06F-4735-BB5A-CA146DE1246F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玩家控制市场供给，AI 控制行动选择，并通过决策点反制玩家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76750" y="2381203"/>
            <a:ext cx="3238500" cy="231852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8DEAAAE-9612-4C04-A9F5-47A3B82FC8F2}"/>
              </a:ext>
            </a:extLst>
          </p:cNvPr>
          <p:cNvSpPr>
            <a:spLocks noGrp="1"/>
          </p:cNvSpPr>
          <p:nvPr/>
        </p:nvSpPr>
        <p:spPr>
          <a:xfrm>
            <a:off x="819150" y="2454615"/>
            <a:ext cx="3143250" cy="1619250"/>
          </a:xfrm>
          <a:prstGeom prst="rect">
            <a:avLst/>
          </a:prstGeom>
          <a:solidFill>
            <a:srgbClr val="FFFFFF">
              <a:alpha val="9098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17263B-F823-42F9-8E8E-730D3435EF5A}"/>
              </a:ext>
            </a:extLst>
          </p:cNvPr>
          <p:cNvSpPr>
            <a:spLocks noGrp="1"/>
          </p:cNvSpPr>
          <p:nvPr/>
        </p:nvSpPr>
        <p:spPr>
          <a:xfrm>
            <a:off x="819150" y="2454615"/>
            <a:ext cx="66675" cy="16192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7BBFAA-66DB-4A3E-A6BB-0566BCDAADDD}"/>
              </a:ext>
            </a:extLst>
          </p:cNvPr>
          <p:cNvSpPr>
            <a:spLocks noGrp="1"/>
          </p:cNvSpPr>
          <p:nvPr/>
        </p:nvSpPr>
        <p:spPr>
          <a:xfrm>
            <a:off x="1028700" y="2626065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玩家掌握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C3F88F-95E9-4AAA-99D8-EB799BB5EAFF}"/>
              </a:ext>
            </a:extLst>
          </p:cNvPr>
          <p:cNvSpPr>
            <a:spLocks noGrp="1"/>
          </p:cNvSpPr>
          <p:nvPr/>
        </p:nvSpPr>
        <p:spPr>
          <a:xfrm>
            <a:off x="1028700" y="2988015"/>
            <a:ext cx="27622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商品定价、进货数量、现金流与库存节奏。玩家必须赚钱，但不能让市场生态崩溃</a:t>
            </a:r>
            <a:r>
              <a:rPr sz="14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0AECE4-FC8B-439A-80EE-3D20B03F48B6}"/>
              </a:ext>
            </a:extLst>
          </p:cNvPr>
          <p:cNvSpPr>
            <a:spLocks noGrp="1"/>
          </p:cNvSpPr>
          <p:nvPr/>
        </p:nvSpPr>
        <p:spPr>
          <a:xfrm>
            <a:off x="8229600" y="2454615"/>
            <a:ext cx="3143250" cy="1619250"/>
          </a:xfrm>
          <a:prstGeom prst="rect">
            <a:avLst/>
          </a:prstGeom>
          <a:solidFill>
            <a:srgbClr val="FFFFFF">
              <a:alpha val="9098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F25E01-35FE-459C-90A1-FD47DD20FB7A}"/>
              </a:ext>
            </a:extLst>
          </p:cNvPr>
          <p:cNvSpPr>
            <a:spLocks noGrp="1"/>
          </p:cNvSpPr>
          <p:nvPr/>
        </p:nvSpPr>
        <p:spPr>
          <a:xfrm>
            <a:off x="8229600" y="2454615"/>
            <a:ext cx="66675" cy="1619250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BC68B2-1E2B-4E9A-BD9E-482D761712C7}"/>
              </a:ext>
            </a:extLst>
          </p:cNvPr>
          <p:cNvSpPr>
            <a:spLocks noGrp="1"/>
          </p:cNvSpPr>
          <p:nvPr/>
        </p:nvSpPr>
        <p:spPr>
          <a:xfrm>
            <a:off x="8439150" y="2626065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AI </a:t>
            </a:r>
            <a:r>
              <a:rPr sz="1500" b="1" dirty="0" err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掌握</a:t>
            </a:r>
            <a:endParaRPr sz="1500" b="1" dirty="0">
              <a:solidFill>
                <a:srgbClr val="355F4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E3C393C-FA8B-4EE1-9A75-22D40ECFE05C}"/>
              </a:ext>
            </a:extLst>
          </p:cNvPr>
          <p:cNvSpPr>
            <a:spLocks noGrp="1"/>
          </p:cNvSpPr>
          <p:nvPr/>
        </p:nvSpPr>
        <p:spPr>
          <a:xfrm>
            <a:off x="8439150" y="2988015"/>
            <a:ext cx="27622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行动选择、购买</a:t>
            </a:r>
            <a:r>
              <a:rPr sz="14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4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出售、消费生存品、投机贵重品，并基于记忆与状态持续规划</a:t>
            </a:r>
            <a:r>
              <a:rPr sz="14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945822" y="4494358"/>
            <a:ext cx="495300" cy="41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91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76BFD9A-FD5A-49E0-A7A1-121299CB8F92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EA2AF3C-09B0-40C7-B973-7770C49EB4B6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25" b="1" dirty="0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125" b="1" dirty="0">
              <a:solidFill>
                <a:srgbClr val="A3403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57E62A-D080-4CF6-8BCD-957B35CFBBED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5FDA23-352B-4D2A-A38E-C31B613E4121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项目价值在于把 LLM 放进有状态、有规则、有反馈的运行系统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B96622-5255-4835-9378-186F10D8AD8C}"/>
              </a:ext>
            </a:extLst>
          </p:cNvPr>
          <p:cNvSpPr>
            <a:spLocks noGrp="1"/>
          </p:cNvSpPr>
          <p:nvPr/>
        </p:nvSpPr>
        <p:spPr>
          <a:xfrm>
            <a:off x="1533144" y="1917954"/>
            <a:ext cx="3238500" cy="1619250"/>
          </a:xfrm>
          <a:prstGeom prst="rect">
            <a:avLst/>
          </a:prstGeom>
          <a:solidFill>
            <a:srgbClr val="FFFFFF">
              <a:alpha val="9098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1AFE52-5C82-4AB7-BACD-462B8C5676AF}"/>
              </a:ext>
            </a:extLst>
          </p:cNvPr>
          <p:cNvSpPr>
            <a:spLocks noGrp="1"/>
          </p:cNvSpPr>
          <p:nvPr/>
        </p:nvSpPr>
        <p:spPr>
          <a:xfrm>
            <a:off x="1533144" y="1917954"/>
            <a:ext cx="66675" cy="16192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8B006D-959B-4656-9F33-EF7B4096F540}"/>
              </a:ext>
            </a:extLst>
          </p:cNvPr>
          <p:cNvSpPr>
            <a:spLocks noGrp="1"/>
          </p:cNvSpPr>
          <p:nvPr/>
        </p:nvSpPr>
        <p:spPr>
          <a:xfrm>
            <a:off x="1742694" y="2089404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已完成</a:t>
            </a:r>
            <a:endParaRPr sz="2000" b="1" dirty="0">
              <a:solidFill>
                <a:srgbClr val="A3403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117304-26A0-4CC4-B715-ED8C2CA98360}"/>
              </a:ext>
            </a:extLst>
          </p:cNvPr>
          <p:cNvSpPr>
            <a:spLocks noGrp="1"/>
          </p:cNvSpPr>
          <p:nvPr/>
        </p:nvSpPr>
        <p:spPr>
          <a:xfrm>
            <a:off x="1742694" y="2451354"/>
            <a:ext cx="2857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LLM Agent </a:t>
            </a:r>
            <a:r>
              <a:rPr sz="16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决策闭环、Unity</a:t>
            </a:r>
            <a:r>
              <a:rPr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00" b="0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可视化执行、动作校验、市场结算、玩家商店阶段、随机事件与胜负判断</a:t>
            </a:r>
            <a:r>
              <a:rPr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57C4A8-39ED-479D-BDA6-B2EF98AE1B56}"/>
              </a:ext>
            </a:extLst>
          </p:cNvPr>
          <p:cNvSpPr>
            <a:spLocks noGrp="1"/>
          </p:cNvSpPr>
          <p:nvPr/>
        </p:nvSpPr>
        <p:spPr>
          <a:xfrm>
            <a:off x="5043678" y="1917954"/>
            <a:ext cx="3238500" cy="1619250"/>
          </a:xfrm>
          <a:prstGeom prst="rect">
            <a:avLst/>
          </a:prstGeom>
          <a:solidFill>
            <a:srgbClr val="FFFFFF">
              <a:alpha val="9098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89420C-7043-40FD-BD29-FBD83CB1092F}"/>
              </a:ext>
            </a:extLst>
          </p:cNvPr>
          <p:cNvSpPr>
            <a:spLocks noGrp="1"/>
          </p:cNvSpPr>
          <p:nvPr/>
        </p:nvSpPr>
        <p:spPr>
          <a:xfrm>
            <a:off x="5043678" y="1917954"/>
            <a:ext cx="66675" cy="1619250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BFDF14-11AF-4E0C-8C5D-03BBA832ECA6}"/>
              </a:ext>
            </a:extLst>
          </p:cNvPr>
          <p:cNvSpPr>
            <a:spLocks noGrp="1"/>
          </p:cNvSpPr>
          <p:nvPr/>
        </p:nvSpPr>
        <p:spPr>
          <a:xfrm>
            <a:off x="5253228" y="2089404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  <a:endParaRPr sz="2000" b="1" dirty="0">
              <a:solidFill>
                <a:srgbClr val="355F4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06E2A51-649E-4A26-93E0-0A52B4263E11}"/>
              </a:ext>
            </a:extLst>
          </p:cNvPr>
          <p:cNvSpPr>
            <a:spLocks noGrp="1"/>
          </p:cNvSpPr>
          <p:nvPr/>
        </p:nvSpPr>
        <p:spPr>
          <a:xfrm>
            <a:off x="5253228" y="2451354"/>
            <a:ext cx="2857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将不稳定的</a:t>
            </a:r>
            <a:r>
              <a:rPr lang="en-US" altLang="zh-CN"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LLM</a:t>
            </a:r>
            <a:r>
              <a:rPr lang="zh-CN" altLang="en-US"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运用到了稳定的游戏系统中，让游戏</a:t>
            </a:r>
            <a:r>
              <a:rPr lang="en-US" altLang="zh-CN"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NPC</a:t>
            </a:r>
            <a:r>
              <a:rPr lang="zh-CN" altLang="en-US"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从规则转向智能</a:t>
            </a:r>
            <a:endParaRPr sz="12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E7BFA53-13DD-4530-B099-711EC6AA3F1D}"/>
              </a:ext>
            </a:extLst>
          </p:cNvPr>
          <p:cNvSpPr>
            <a:spLocks noGrp="1"/>
          </p:cNvSpPr>
          <p:nvPr/>
        </p:nvSpPr>
        <p:spPr>
          <a:xfrm>
            <a:off x="8471916" y="1917954"/>
            <a:ext cx="3238500" cy="1619250"/>
          </a:xfrm>
          <a:prstGeom prst="rect">
            <a:avLst/>
          </a:prstGeom>
          <a:solidFill>
            <a:srgbClr val="FFFFFF">
              <a:alpha val="9098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B7F29C7-EC3B-4C7D-92CE-02B665CCF669}"/>
              </a:ext>
            </a:extLst>
          </p:cNvPr>
          <p:cNvSpPr>
            <a:spLocks noGrp="1"/>
          </p:cNvSpPr>
          <p:nvPr/>
        </p:nvSpPr>
        <p:spPr>
          <a:xfrm>
            <a:off x="8471916" y="1917954"/>
            <a:ext cx="66675" cy="1619250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86809EA-19FE-4007-8E27-FA80237E8CCF}"/>
              </a:ext>
            </a:extLst>
          </p:cNvPr>
          <p:cNvSpPr>
            <a:spLocks noGrp="1"/>
          </p:cNvSpPr>
          <p:nvPr/>
        </p:nvSpPr>
        <p:spPr>
          <a:xfrm>
            <a:off x="8681466" y="2089404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rPr>
              <a:t>不足</a:t>
            </a:r>
            <a:endParaRPr sz="2000" b="1" dirty="0">
              <a:solidFill>
                <a:srgbClr val="C696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EB787A1-FFA9-4CF6-9FA4-BB18532A6DC4}"/>
              </a:ext>
            </a:extLst>
          </p:cNvPr>
          <p:cNvSpPr>
            <a:spLocks noGrp="1"/>
          </p:cNvSpPr>
          <p:nvPr/>
        </p:nvSpPr>
        <p:spPr>
          <a:xfrm>
            <a:off x="8681466" y="2451354"/>
            <a:ext cx="2857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模型调用过程缓慢，等待时间长</a:t>
            </a:r>
            <a:r>
              <a:rPr lang="zh-CN" altLang="en-US" sz="160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，用户体验差</a:t>
            </a:r>
            <a:endParaRPr lang="en-US" altLang="zh-CN" sz="160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API</a:t>
            </a:r>
            <a:r>
              <a:rPr lang="zh-CN" altLang="en-US" sz="1600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价格高，不适合长线运营</a:t>
            </a:r>
            <a:endParaRPr lang="en-US" altLang="zh-CN" sz="1600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094F219-C4FC-42D8-91FF-04F2B9E731CA}"/>
              </a:ext>
            </a:extLst>
          </p:cNvPr>
          <p:cNvSpPr>
            <a:spLocks noGrp="1"/>
          </p:cNvSpPr>
          <p:nvPr/>
        </p:nvSpPr>
        <p:spPr>
          <a:xfrm>
            <a:off x="2480557" y="4885718"/>
            <a:ext cx="7287435" cy="93345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5347116-0D76-44E4-973F-BF507A9710D6}"/>
              </a:ext>
            </a:extLst>
          </p:cNvPr>
          <p:cNvSpPr>
            <a:spLocks noGrp="1"/>
          </p:cNvSpPr>
          <p:nvPr/>
        </p:nvSpPr>
        <p:spPr>
          <a:xfrm>
            <a:off x="2552319" y="5111778"/>
            <a:ext cx="1238250" cy="33906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后续方向</a:t>
            </a:r>
            <a:endParaRPr sz="2000" b="1" dirty="0">
              <a:solidFill>
                <a:srgbClr val="7045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3C3778-8135-43AB-8168-3AFB79BB9E2A}"/>
              </a:ext>
            </a:extLst>
          </p:cNvPr>
          <p:cNvSpPr>
            <a:spLocks noGrp="1"/>
          </p:cNvSpPr>
          <p:nvPr/>
        </p:nvSpPr>
        <p:spPr>
          <a:xfrm>
            <a:off x="3685647" y="5149620"/>
            <a:ext cx="6047371" cy="359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长期记忆系统 本地化模型方案 高并发场景应对方案 丰富游戏交互</a:t>
            </a:r>
            <a:endParaRPr sz="1600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440832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810</Words>
  <Application>Microsoft Office PowerPoint</Application>
  <DocSecurity>0</DocSecurity>
  <PresentationFormat>宽屏</PresentationFormat>
  <Paragraphs>222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Microsoft YaHei</vt:lpstr>
      <vt:lpstr>Calibri</vt:lpstr>
      <vt:lpstr>Cambria Math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王 益</cp:lastModifiedBy>
  <cp:revision>9</cp:revision>
  <dcterms:created xsi:type="dcterms:W3CDTF">2026-05-26T08:00:17Z</dcterms:created>
  <dcterms:modified xsi:type="dcterms:W3CDTF">2026-05-29T08:22:32Z</dcterms:modified>
</cp:coreProperties>
</file>