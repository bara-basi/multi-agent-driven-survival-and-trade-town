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073BA4B-4F2C-42C6-B9B9-CCE6B49BBA3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239000" cy="4476750"/>
          </a:xfrm>
          <a:prstGeom prst="rect">
            <a:avLst/>
          </a:prstGeom>
          <a:solidFill>
            <a:srgbClr val="FFFFFF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DE97C9-4AE6-40A0-B13E-65C2614995A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33350" cy="44767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4250" y="1524000"/>
            <a:ext cx="3905250" cy="28575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50A6A3A-E3F8-4474-9C57-065C30B85641}"/>
              </a:ext>
            </a:extLst>
          </p:cNvPr>
          <p:cNvSpPr>
            <a:spLocks noGrp="1"/>
          </p:cNvSpPr>
          <p:nvPr/>
        </p:nvSpPr>
        <p:spPr>
          <a:xfrm>
            <a:off x="1104900" y="1066800"/>
            <a:ext cx="342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本科毕业设计答辩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8FD24E-2F4F-4D33-A70B-D75250C7D971}"/>
              </a:ext>
            </a:extLst>
          </p:cNvPr>
          <p:cNvSpPr>
            <a:spLocks noGrp="1"/>
          </p:cNvSpPr>
          <p:nvPr/>
        </p:nvSpPr>
        <p:spPr>
          <a:xfrm>
            <a:off x="1066800" y="1543050"/>
            <a:ext cx="6191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GreedTown：基于 LLM Agent 的</a:t>
            </a:r>
          </a:p>
          <a:p>
            <a:pPr algn="l">
              <a:def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2D 商店经营与生存博弈系统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D89CFF-0928-4BF5-AA8A-9B01928CED0D}"/>
              </a:ext>
            </a:extLst>
          </p:cNvPr>
          <p:cNvSpPr>
            <a:spLocks noGrp="1"/>
          </p:cNvSpPr>
          <p:nvPr/>
        </p:nvSpPr>
        <p:spPr>
          <a:xfrm>
            <a:off x="1104900" y="2781300"/>
            <a:ext cx="5715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从 AI 自主决策到人机经济博弈的闭环仿真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DA09F0-F2EA-48DF-AC01-625DD9DA27A3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答辩人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614EAE-607F-4C83-973F-705636E9ADBE}"/>
              </a:ext>
            </a:extLst>
          </p:cNvPr>
          <p:cNvSpPr>
            <a:spLocks noGrp="1"/>
          </p:cNvSpPr>
          <p:nvPr/>
        </p:nvSpPr>
        <p:spPr>
          <a:xfrm>
            <a:off x="2114550" y="34099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endParaRPr sz="1125" b="0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FB1ACE-8DA7-4074-8EEC-47AA107B9574}"/>
              </a:ext>
            </a:extLst>
          </p:cNvPr>
          <p:cNvSpPr>
            <a:spLocks noGrp="1"/>
          </p:cNvSpPr>
          <p:nvPr/>
        </p:nvSpPr>
        <p:spPr>
          <a:xfrm>
            <a:off x="1123950" y="37433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7AEF3F-5180-4E81-B43D-8C5A0030845E}"/>
              </a:ext>
            </a:extLst>
          </p:cNvPr>
          <p:cNvSpPr>
            <a:spLocks noGrp="1"/>
          </p:cNvSpPr>
          <p:nvPr/>
        </p:nvSpPr>
        <p:spPr>
          <a:xfrm>
            <a:off x="2114550" y="37433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专业名称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6FAE8-7B6C-4EAF-BA3A-E193155F0AB9}"/>
              </a:ext>
            </a:extLst>
          </p:cNvPr>
          <p:cNvSpPr>
            <a:spLocks noGrp="1"/>
          </p:cNvSpPr>
          <p:nvPr/>
        </p:nvSpPr>
        <p:spPr>
          <a:xfrm>
            <a:off x="1123950" y="4076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导师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24D393-FD51-481E-BA27-90690667AAFA}"/>
              </a:ext>
            </a:extLst>
          </p:cNvPr>
          <p:cNvSpPr>
            <a:spLocks noGrp="1"/>
          </p:cNvSpPr>
          <p:nvPr/>
        </p:nvSpPr>
        <p:spPr>
          <a:xfrm>
            <a:off x="2114550" y="4076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导师姓名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2F1888-57FF-4F70-A831-135FFF71EFEB}"/>
              </a:ext>
            </a:extLst>
          </p:cNvPr>
          <p:cNvSpPr>
            <a:spLocks noGrp="1"/>
          </p:cNvSpPr>
          <p:nvPr/>
        </p:nvSpPr>
        <p:spPr>
          <a:xfrm>
            <a:off x="1123950" y="441007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学院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D98715-190E-4E97-B944-313B08D073A9}"/>
              </a:ext>
            </a:extLst>
          </p:cNvPr>
          <p:cNvSpPr>
            <a:spLocks noGrp="1"/>
          </p:cNvSpPr>
          <p:nvPr/>
        </p:nvSpPr>
        <p:spPr>
          <a:xfrm>
            <a:off x="2114550" y="44100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学院名称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DD7496-5262-455C-9758-6F482837E183}"/>
              </a:ext>
            </a:extLst>
          </p:cNvPr>
          <p:cNvSpPr>
            <a:spLocks noGrp="1"/>
          </p:cNvSpPr>
          <p:nvPr/>
        </p:nvSpPr>
        <p:spPr>
          <a:xfrm>
            <a:off x="1123950" y="47434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答辩时间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3D6D5E-7124-40D0-A6F9-18B8E883ECAA}"/>
              </a:ext>
            </a:extLst>
          </p:cNvPr>
          <p:cNvSpPr>
            <a:spLocks noGrp="1"/>
          </p:cNvSpPr>
          <p:nvPr/>
        </p:nvSpPr>
        <p:spPr>
          <a:xfrm>
            <a:off x="2114550" y="4743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2026 年 </a:t>
            </a:r>
            <a:r>
              <a:rPr lang="en-US"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月 </a:t>
            </a:r>
            <a:r>
              <a:rPr lang="en-US" sz="1125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sz="1125" b="0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 日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736012" y="4572000"/>
            <a:ext cx="778126" cy="7048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815467" y="4953000"/>
            <a:ext cx="714717" cy="59055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8E3DCF2-C245-49F0-9367-D1627792206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DC6BA2-D947-45FB-84B6-C23F6E471BE6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200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59">
            <a:extLst>
              <a:ext uri="{FF2B5EF4-FFF2-40B4-BE49-F238E27FC236}">
                <a16:creationId xmlns:a16="http://schemas.microsoft.com/office/drawing/2014/main" id="{94F1F785-11EF-592F-7103-AD6C3BE49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8C53B73-3356-41F7-A723-E5E505C3156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6606F8-ADF7-44C0-BC95-7544FBB5EC2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915C05-8EBB-489A-A4E3-2F0F6D9577A6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r>
              <a:rPr lang="zh-CN" altLang="en-US" sz="217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217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B35834-202D-43C0-98A8-3AAFC67B0945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让 </a:t>
            </a:r>
            <a:r>
              <a:rPr lang="en-US" altLang="zh-CN" sz="1125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lang="zh-CN" altLang="en-US" sz="1125" dirty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在规则世界里稳定行动</a:t>
            </a:r>
            <a:endParaRPr sz="1125" b="0" dirty="0">
              <a:solidFill>
                <a:srgbClr val="7D6A5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76A5B0-7DD0-4903-AB76-1C284E76EA33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A193B-7F4A-4FD2-B964-972DF092A6E3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324100" cy="7620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4172B4-51CA-4132-826E-0447E11FDB66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1750" y="1780961"/>
            <a:ext cx="400050" cy="36237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073A228-423C-4E64-9CC9-7E3462207697}"/>
              </a:ext>
            </a:extLst>
          </p:cNvPr>
          <p:cNvSpPr>
            <a:spLocks noGrp="1"/>
          </p:cNvSpPr>
          <p:nvPr/>
        </p:nvSpPr>
        <p:spPr>
          <a:xfrm>
            <a:off x="876300" y="2288286"/>
            <a:ext cx="2533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系统目标</a:t>
            </a: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核心玩法</a:t>
            </a:r>
            <a:endParaRPr 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（浅谈）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2AC886-43ED-42FE-B5E2-10320DEF3EF8}"/>
              </a:ext>
            </a:extLst>
          </p:cNvPr>
          <p:cNvSpPr>
            <a:spLocks noGrp="1"/>
          </p:cNvSpPr>
          <p:nvPr/>
        </p:nvSpPr>
        <p:spPr>
          <a:xfrm>
            <a:off x="36195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55F191-77E9-4BEC-8CE5-E1C081236FE2}"/>
              </a:ext>
            </a:extLst>
          </p:cNvPr>
          <p:cNvSpPr>
            <a:spLocks noGrp="1"/>
          </p:cNvSpPr>
          <p:nvPr/>
        </p:nvSpPr>
        <p:spPr>
          <a:xfrm>
            <a:off x="3619500" y="1562100"/>
            <a:ext cx="2324100" cy="7620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425571-6398-489B-97FB-7CEB09752ED6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14950" y="1781305"/>
            <a:ext cx="400050" cy="36168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97D1DC5-A331-494A-BF9F-E11F2AC9B8D0}"/>
              </a:ext>
            </a:extLst>
          </p:cNvPr>
          <p:cNvSpPr>
            <a:spLocks noGrp="1"/>
          </p:cNvSpPr>
          <p:nvPr/>
        </p:nvSpPr>
        <p:spPr>
          <a:xfrm>
            <a:off x="38290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67BA0-D337-4D51-8064-6F3FA2D2FB24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86F2AD-EF4B-4653-A547-8753473B626D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2324100" cy="7620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86B4F41-D718-43FA-875E-02FB1CEAC580}"/>
              </a:ext>
            </a:extLst>
          </p:cNvPr>
          <p:cNvSpPr>
            <a:spLocks noGrp="1"/>
          </p:cNvSpPr>
          <p:nvPr/>
        </p:nvSpPr>
        <p:spPr>
          <a:xfrm>
            <a:off x="65532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059877" y="1771650"/>
            <a:ext cx="396596" cy="381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E6CFD9B-83ED-426F-A1BA-A10DFA48788D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流程闭环</a:t>
            </a:r>
            <a:endParaRPr 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（以回合为单位）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043FB6-7056-4E11-A3FD-AE0C7420F8AA}"/>
              </a:ext>
            </a:extLst>
          </p:cNvPr>
          <p:cNvSpPr>
            <a:spLocks noGrp="1"/>
          </p:cNvSpPr>
          <p:nvPr/>
        </p:nvSpPr>
        <p:spPr>
          <a:xfrm>
            <a:off x="9105900" y="156210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2BEA477-A62F-4197-B632-8F03D6DC7B1D}"/>
              </a:ext>
            </a:extLst>
          </p:cNvPr>
          <p:cNvSpPr>
            <a:spLocks noGrp="1"/>
          </p:cNvSpPr>
          <p:nvPr/>
        </p:nvSpPr>
        <p:spPr>
          <a:xfrm>
            <a:off x="9105900" y="1562100"/>
            <a:ext cx="2324100" cy="762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0C8FA8-405F-4676-BBDD-CD7963A1C5A4}"/>
              </a:ext>
            </a:extLst>
          </p:cNvPr>
          <p:cNvSpPr>
            <a:spLocks noGrp="1"/>
          </p:cNvSpPr>
          <p:nvPr/>
        </p:nvSpPr>
        <p:spPr>
          <a:xfrm>
            <a:off x="9296400" y="180975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876502" y="1771650"/>
            <a:ext cx="249746" cy="3810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B37F247-7FBD-40C4-B8D0-19530996709F}"/>
              </a:ext>
            </a:extLst>
          </p:cNvPr>
          <p:cNvSpPr>
            <a:spLocks noGrp="1"/>
          </p:cNvSpPr>
          <p:nvPr/>
        </p:nvSpPr>
        <p:spPr>
          <a:xfrm>
            <a:off x="9315450" y="226695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决策链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6F7896-CF41-43A6-BF58-95DF8151260F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A8ADBD-46F7-4653-8E3A-815EAB4EA1F8}"/>
              </a:ext>
            </a:extLst>
          </p:cNvPr>
          <p:cNvSpPr>
            <a:spLocks noGrp="1"/>
          </p:cNvSpPr>
          <p:nvPr/>
        </p:nvSpPr>
        <p:spPr>
          <a:xfrm>
            <a:off x="876300" y="3638550"/>
            <a:ext cx="2324100" cy="7620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D40B4DD-4519-46E6-A8D3-D07D328EB4FD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575097" y="3848100"/>
            <a:ext cx="393357" cy="3810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82C5EBC-45E5-42B1-86F3-F2974520C656}"/>
              </a:ext>
            </a:extLst>
          </p:cNvPr>
          <p:cNvSpPr>
            <a:spLocks noGrp="1"/>
          </p:cNvSpPr>
          <p:nvPr/>
        </p:nvSpPr>
        <p:spPr>
          <a:xfrm>
            <a:off x="1085850" y="434340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动作系统与</a:t>
            </a:r>
            <a:endParaRPr lang="zh-CN" altLang="en-US"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动作空间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0E337F7-BCEF-4EE5-B764-15229F666C49}"/>
              </a:ext>
            </a:extLst>
          </p:cNvPr>
          <p:cNvSpPr>
            <a:spLocks noGrp="1"/>
          </p:cNvSpPr>
          <p:nvPr/>
        </p:nvSpPr>
        <p:spPr>
          <a:xfrm>
            <a:off x="36195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C99419-ACAE-4D17-9A8B-DAAA7BD84F80}"/>
              </a:ext>
            </a:extLst>
          </p:cNvPr>
          <p:cNvSpPr>
            <a:spLocks noGrp="1"/>
          </p:cNvSpPr>
          <p:nvPr/>
        </p:nvSpPr>
        <p:spPr>
          <a:xfrm>
            <a:off x="3619500" y="3638550"/>
            <a:ext cx="2324100" cy="7620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FDEBF4-946E-49B9-BC0A-8E6048127212}"/>
              </a:ext>
            </a:extLst>
          </p:cNvPr>
          <p:cNvSpPr>
            <a:spLocks noGrp="1"/>
          </p:cNvSpPr>
          <p:nvPr/>
        </p:nvSpPr>
        <p:spPr>
          <a:xfrm>
            <a:off x="38100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319760" y="3848100"/>
            <a:ext cx="390431" cy="381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971B812E-3AAE-473D-BDB2-630D9F901802}"/>
              </a:ext>
            </a:extLst>
          </p:cNvPr>
          <p:cNvSpPr>
            <a:spLocks noGrp="1"/>
          </p:cNvSpPr>
          <p:nvPr/>
        </p:nvSpPr>
        <p:spPr>
          <a:xfrm>
            <a:off x="3829050" y="434340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6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WebSocket</a:t>
            </a:r>
          </a:p>
          <a:p>
            <a:pPr algn="ctr">
              <a:defRPr sz="16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伪 RPC </a:t>
            </a:r>
            <a:r>
              <a:rPr sz="1650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通信</a:t>
            </a:r>
            <a:endParaRPr sz="1650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CAFBED9-FA09-46EA-9654-7ACE999D079E}"/>
              </a:ext>
            </a:extLst>
          </p:cNvPr>
          <p:cNvSpPr>
            <a:spLocks noGrp="1"/>
          </p:cNvSpPr>
          <p:nvPr/>
        </p:nvSpPr>
        <p:spPr>
          <a:xfrm>
            <a:off x="63627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BB4C7D-9A02-4359-A639-75E04EC54C8B}"/>
              </a:ext>
            </a:extLst>
          </p:cNvPr>
          <p:cNvSpPr>
            <a:spLocks noGrp="1"/>
          </p:cNvSpPr>
          <p:nvPr/>
        </p:nvSpPr>
        <p:spPr>
          <a:xfrm>
            <a:off x="6362700" y="3638550"/>
            <a:ext cx="2324100" cy="7620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E0E112-4221-4249-A647-95A3F0454929}"/>
              </a:ext>
            </a:extLst>
          </p:cNvPr>
          <p:cNvSpPr>
            <a:spLocks noGrp="1"/>
          </p:cNvSpPr>
          <p:nvPr/>
        </p:nvSpPr>
        <p:spPr>
          <a:xfrm>
            <a:off x="65532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058150" y="3873325"/>
            <a:ext cx="400050" cy="33055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13C2B267-F237-462F-859A-7CCC74F43453}"/>
              </a:ext>
            </a:extLst>
          </p:cNvPr>
          <p:cNvSpPr>
            <a:spLocks noGrp="1"/>
          </p:cNvSpPr>
          <p:nvPr/>
        </p:nvSpPr>
        <p:spPr>
          <a:xfrm>
            <a:off x="6572250" y="434340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经济系统</a:t>
            </a:r>
            <a:r>
              <a:rPr lang="zh-CN" altLang="en-US" sz="1725" b="1" dirty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27188B-EBEF-436C-8C08-231227436622}"/>
              </a:ext>
            </a:extLst>
          </p:cNvPr>
          <p:cNvSpPr>
            <a:spLocks noGrp="1"/>
          </p:cNvSpPr>
          <p:nvPr/>
        </p:nvSpPr>
        <p:spPr>
          <a:xfrm>
            <a:off x="9105900" y="3638550"/>
            <a:ext cx="2324100" cy="1352550"/>
          </a:xfrm>
          <a:prstGeom prst="rect">
            <a:avLst/>
          </a:prstGeom>
          <a:solidFill>
            <a:srgbClr val="FFFFFF">
              <a:alpha val="90196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AAF2772-482A-44C6-BA6D-E050DD74157F}"/>
              </a:ext>
            </a:extLst>
          </p:cNvPr>
          <p:cNvSpPr>
            <a:spLocks noGrp="1"/>
          </p:cNvSpPr>
          <p:nvPr/>
        </p:nvSpPr>
        <p:spPr>
          <a:xfrm>
            <a:off x="9105900" y="3638550"/>
            <a:ext cx="2324100" cy="762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50059AA-C74E-4921-B0B8-6AAA2E344559}"/>
              </a:ext>
            </a:extLst>
          </p:cNvPr>
          <p:cNvSpPr>
            <a:spLocks noGrp="1"/>
          </p:cNvSpPr>
          <p:nvPr/>
        </p:nvSpPr>
        <p:spPr>
          <a:xfrm>
            <a:off x="9296400" y="3886200"/>
            <a:ext cx="514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828618" y="3848100"/>
            <a:ext cx="345515" cy="38100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E2AA58D3-CA01-498E-846E-06C79BEE650F}"/>
              </a:ext>
            </a:extLst>
          </p:cNvPr>
          <p:cNvSpPr>
            <a:spLocks noGrp="1"/>
          </p:cNvSpPr>
          <p:nvPr/>
        </p:nvSpPr>
        <p:spPr>
          <a:xfrm>
            <a:off x="9315450" y="434340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技能模组与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7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随机事件</a:t>
            </a:r>
            <a:endParaRPr sz="1725" b="1" dirty="0">
              <a:solidFill>
                <a:srgbClr val="3928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BC27DD5-11E6-4152-929F-3B7186BEACEB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40005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AA2478-0E32-4374-9050-C99D2475A963}"/>
              </a:ext>
            </a:extLst>
          </p:cNvPr>
          <p:cNvSpPr>
            <a:spLocks noGrp="1"/>
          </p:cNvSpPr>
          <p:nvPr/>
        </p:nvSpPr>
        <p:spPr>
          <a:xfrm>
            <a:off x="2419350" y="5753100"/>
            <a:ext cx="735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目录只承担导航功能：两排八项，对应后续技术叙事的主要章节。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480E16-5959-4768-8C5B-B98718B5D378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6C39911-E04E-4D3D-99B5-F97F7AF2D87F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732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9C8C8FA-A37B-4B51-8771-2DFFEBA9272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5A66B4-98AB-4107-BBC1-3E4F663C9C0A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6841EA-536C-46F6-AD7B-3EFC246BCF75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系统目标与核心玩法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8A5F49-4A4F-4906-9942-B5FB8B1ECA5B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玩家经营唯一商店，四个 AI Agent 自主生存、消费、交易与投机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8A4119-AEEC-463E-B1BB-674BB6871962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4857750" cy="381000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4734B0-C314-415C-B06A-1D27A2B9C344}"/>
              </a:ext>
            </a:extLst>
          </p:cNvPr>
          <p:cNvSpPr>
            <a:spLocks noGrp="1"/>
          </p:cNvSpPr>
          <p:nvPr/>
        </p:nvSpPr>
        <p:spPr>
          <a:xfrm>
            <a:off x="1066800" y="15049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胜负条件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65AD00-8ECB-4FE5-B7CD-DD681A582574}"/>
              </a:ext>
            </a:extLst>
          </p:cNvPr>
          <p:cNvSpPr>
            <a:spLocks noGrp="1"/>
          </p:cNvSpPr>
          <p:nvPr/>
        </p:nvSpPr>
        <p:spPr>
          <a:xfrm>
            <a:off x="1123950" y="21717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A2EC26-EC31-44A6-8012-F0B99505E0F7}"/>
              </a:ext>
            </a:extLst>
          </p:cNvPr>
          <p:cNvSpPr>
            <a:spLocks noGrp="1"/>
          </p:cNvSpPr>
          <p:nvPr/>
        </p:nvSpPr>
        <p:spPr>
          <a:xfrm>
            <a:off x="1333500" y="2095500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玩家资金达到 10000：胜利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7B767-58D1-444A-979B-9547736C4936}"/>
              </a:ext>
            </a:extLst>
          </p:cNvPr>
          <p:cNvSpPr>
            <a:spLocks noGrp="1"/>
          </p:cNvSpPr>
          <p:nvPr/>
        </p:nvSpPr>
        <p:spPr>
          <a:xfrm>
            <a:off x="1123950" y="26289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1DC21E-C7C8-4822-A532-86AA05C8CFCA}"/>
              </a:ext>
            </a:extLst>
          </p:cNvPr>
          <p:cNvSpPr>
            <a:spLocks noGrp="1"/>
          </p:cNvSpPr>
          <p:nvPr/>
        </p:nvSpPr>
        <p:spPr>
          <a:xfrm>
            <a:off x="1333500" y="2552700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玩家破产：失败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D1CF3D-22B6-407F-8DDB-9D7B717FEFCE}"/>
              </a:ext>
            </a:extLst>
          </p:cNvPr>
          <p:cNvSpPr>
            <a:spLocks noGrp="1"/>
          </p:cNvSpPr>
          <p:nvPr/>
        </p:nvSpPr>
        <p:spPr>
          <a:xfrm>
            <a:off x="1123950" y="30861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F7CA72-8A81-436F-9DCB-503A93FB2056}"/>
              </a:ext>
            </a:extLst>
          </p:cNvPr>
          <p:cNvSpPr>
            <a:spLocks noGrp="1"/>
          </p:cNvSpPr>
          <p:nvPr/>
        </p:nvSpPr>
        <p:spPr>
          <a:xfrm>
            <a:off x="1333500" y="3009900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任一 AI 生存属性归零：失败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23EEE5-2F6B-4825-9DBA-6C5964273791}"/>
              </a:ext>
            </a:extLst>
          </p:cNvPr>
          <p:cNvSpPr>
            <a:spLocks noGrp="1"/>
          </p:cNvSpPr>
          <p:nvPr/>
        </p:nvSpPr>
        <p:spPr>
          <a:xfrm>
            <a:off x="1123950" y="35433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6DA2FB-5C85-43C6-810F-A0EB1DA006D8}"/>
              </a:ext>
            </a:extLst>
          </p:cNvPr>
          <p:cNvSpPr>
            <a:spLocks noGrp="1"/>
          </p:cNvSpPr>
          <p:nvPr/>
        </p:nvSpPr>
        <p:spPr>
          <a:xfrm>
            <a:off x="1333500" y="3467100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任一 AI 先达到 10000：失败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2EBA78-55B8-4A14-8511-41519EB79D9C}"/>
              </a:ext>
            </a:extLst>
          </p:cNvPr>
          <p:cNvSpPr>
            <a:spLocks noGrp="1"/>
          </p:cNvSpPr>
          <p:nvPr/>
        </p:nvSpPr>
        <p:spPr>
          <a:xfrm>
            <a:off x="6115050" y="1381125"/>
            <a:ext cx="14097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03A372-93AC-43DD-BEF5-F61322EC3A05}"/>
              </a:ext>
            </a:extLst>
          </p:cNvPr>
          <p:cNvSpPr>
            <a:spLocks noGrp="1"/>
          </p:cNvSpPr>
          <p:nvPr/>
        </p:nvSpPr>
        <p:spPr>
          <a:xfrm>
            <a:off x="6210300" y="1552575"/>
            <a:ext cx="1219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3CDD0E-57A5-4D89-904E-3349BE511371}"/>
              </a:ext>
            </a:extLst>
          </p:cNvPr>
          <p:cNvSpPr>
            <a:spLocks noGrp="1"/>
          </p:cNvSpPr>
          <p:nvPr/>
        </p:nvSpPr>
        <p:spPr>
          <a:xfrm>
            <a:off x="6229350" y="1990725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F50F3D-8E4A-478D-969D-6C9FAE84484B}"/>
              </a:ext>
            </a:extLst>
          </p:cNvPr>
          <p:cNvSpPr>
            <a:spLocks noGrp="1"/>
          </p:cNvSpPr>
          <p:nvPr/>
        </p:nvSpPr>
        <p:spPr>
          <a:xfrm>
            <a:off x="7734300" y="1381125"/>
            <a:ext cx="14097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31798F9-8021-4553-81B6-B87D62802E04}"/>
              </a:ext>
            </a:extLst>
          </p:cNvPr>
          <p:cNvSpPr>
            <a:spLocks noGrp="1"/>
          </p:cNvSpPr>
          <p:nvPr/>
        </p:nvSpPr>
        <p:spPr>
          <a:xfrm>
            <a:off x="7829550" y="1552575"/>
            <a:ext cx="1219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012B8A-17A6-471D-845A-57FE9B93B2FB}"/>
              </a:ext>
            </a:extLst>
          </p:cNvPr>
          <p:cNvSpPr>
            <a:spLocks noGrp="1"/>
          </p:cNvSpPr>
          <p:nvPr/>
        </p:nvSpPr>
        <p:spPr>
          <a:xfrm>
            <a:off x="7848600" y="1990725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商品类型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A8AC79-BD36-4786-896A-49F7786C9EF1}"/>
              </a:ext>
            </a:extLst>
          </p:cNvPr>
          <p:cNvSpPr>
            <a:spLocks noGrp="1"/>
          </p:cNvSpPr>
          <p:nvPr/>
        </p:nvSpPr>
        <p:spPr>
          <a:xfrm>
            <a:off x="9353550" y="1381125"/>
            <a:ext cx="14097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C27936-2D99-465B-A57F-752181279A9F}"/>
              </a:ext>
            </a:extLst>
          </p:cNvPr>
          <p:cNvSpPr>
            <a:spLocks noGrp="1"/>
          </p:cNvSpPr>
          <p:nvPr/>
        </p:nvSpPr>
        <p:spPr>
          <a:xfrm>
            <a:off x="9448800" y="1552575"/>
            <a:ext cx="1219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DA019C6-BDB0-4497-87E0-6C00DDAB009E}"/>
              </a:ext>
            </a:extLst>
          </p:cNvPr>
          <p:cNvSpPr>
            <a:spLocks noGrp="1"/>
          </p:cNvSpPr>
          <p:nvPr/>
        </p:nvSpPr>
        <p:spPr>
          <a:xfrm>
            <a:off x="9467850" y="1990725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核心地点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B3B16E-9996-4A7B-A2BB-40A016471328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4648200" cy="1695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B9D176-0E43-4155-8E08-14741C197FDB}"/>
              </a:ext>
            </a:extLst>
          </p:cNvPr>
          <p:cNvSpPr>
            <a:spLocks noGrp="1"/>
          </p:cNvSpPr>
          <p:nvPr/>
        </p:nvSpPr>
        <p:spPr>
          <a:xfrm>
            <a:off x="6400800" y="31051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核心体验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9CAB0B-2A60-4A81-BA11-C722F02405A3}"/>
              </a:ext>
            </a:extLst>
          </p:cNvPr>
          <p:cNvSpPr>
            <a:spLocks noGrp="1"/>
          </p:cNvSpPr>
          <p:nvPr/>
        </p:nvSpPr>
        <p:spPr>
          <a:xfrm>
            <a:off x="6400800" y="3524250"/>
            <a:ext cx="38862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这不是单纯的经营模拟，也不是 AI 自动对战，而是玩家与 Agent 在同一市场中争夺节奏的“不对称博弈”。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43599" y="4800600"/>
            <a:ext cx="639202" cy="70485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BC2EA03F-41B3-4DF7-8AA4-F9D6972860B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E2C90B-FFE3-4D08-983E-1151F2C8A773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365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2F3A9DA-46AC-4938-82F4-4ADE912E75DA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F25FED-E3D6-4F7C-81D5-22E4BE2532F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30B065-07A5-4F22-89B2-2A3E6AF17296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核心设计矛盾：戴着镣铐跳舞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E3D5D9-1094-4138-8682-0C8428FC956F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答辩主线：系统真正的难点在于动态平衡，而不是堆功能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B6D513-B949-422B-8C66-E72A304154C4}"/>
              </a:ext>
            </a:extLst>
          </p:cNvPr>
          <p:cNvSpPr>
            <a:spLocks noGrp="1"/>
          </p:cNvSpPr>
          <p:nvPr/>
        </p:nvSpPr>
        <p:spPr>
          <a:xfrm>
            <a:off x="1085850" y="16764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79934" y="1866900"/>
            <a:ext cx="412082" cy="6286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970BC3E-CF42-4F3D-93DE-962C6FCF61F6}"/>
              </a:ext>
            </a:extLst>
          </p:cNvPr>
          <p:cNvSpPr>
            <a:spLocks noGrp="1"/>
          </p:cNvSpPr>
          <p:nvPr/>
        </p:nvSpPr>
        <p:spPr>
          <a:xfrm>
            <a:off x="1257300" y="26860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赚得更多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CFFA0B-7F6D-49C7-A1C9-EB270480E065}"/>
              </a:ext>
            </a:extLst>
          </p:cNvPr>
          <p:cNvSpPr>
            <a:spLocks noGrp="1"/>
          </p:cNvSpPr>
          <p:nvPr/>
        </p:nvSpPr>
        <p:spPr>
          <a:xfrm>
            <a:off x="1276350" y="31242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玩家需要通过定价和进货扩大现金流。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B24D3C-0A95-41D4-8545-592C3C17353C}"/>
              </a:ext>
            </a:extLst>
          </p:cNvPr>
          <p:cNvSpPr>
            <a:spLocks noGrp="1"/>
          </p:cNvSpPr>
          <p:nvPr/>
        </p:nvSpPr>
        <p:spPr>
          <a:xfrm>
            <a:off x="3829050" y="16764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04656" y="1866900"/>
            <a:ext cx="649039" cy="6286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5BA30F9B-5A10-4A7B-AC2E-5FE6E92EE7CA}"/>
              </a:ext>
            </a:extLst>
          </p:cNvPr>
          <p:cNvSpPr>
            <a:spLocks noGrp="1"/>
          </p:cNvSpPr>
          <p:nvPr/>
        </p:nvSpPr>
        <p:spPr>
          <a:xfrm>
            <a:off x="4000500" y="26860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不能压垮 AI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E3809B-A514-411E-B083-36FDE0576075}"/>
              </a:ext>
            </a:extLst>
          </p:cNvPr>
          <p:cNvSpPr>
            <a:spLocks noGrp="1"/>
          </p:cNvSpPr>
          <p:nvPr/>
        </p:nvSpPr>
        <p:spPr>
          <a:xfrm>
            <a:off x="4019550" y="31242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饥饿、水分、精神归零会直接导致失败。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6A0B46-A35D-44FF-BBDA-E4F8DBC10C85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50270" y="1866900"/>
            <a:ext cx="644211" cy="6286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D3E6C1E-42C7-4FFC-B4DD-C46FA3887B2E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供给充足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CD337B-838A-4373-AED1-C936648B99A3}"/>
              </a:ext>
            </a:extLst>
          </p:cNvPr>
          <p:cNvSpPr>
            <a:spLocks noGrp="1"/>
          </p:cNvSpPr>
          <p:nvPr/>
        </p:nvSpPr>
        <p:spPr>
          <a:xfrm>
            <a:off x="6762750" y="31242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库存不足会破坏生存链和交易链。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024C79-5ACE-4E81-AD6D-FCAF624A28CE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333625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982200" y="1905767"/>
            <a:ext cx="666750" cy="550916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A9FF733E-F159-4470-BFD9-55B93EC2C1FD}"/>
              </a:ext>
            </a:extLst>
          </p:cNvPr>
          <p:cNvSpPr>
            <a:spLocks noGrp="1"/>
          </p:cNvSpPr>
          <p:nvPr/>
        </p:nvSpPr>
        <p:spPr>
          <a:xfrm>
            <a:off x="9486900" y="26860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不能让 AI 暴富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D4CEF2-0EF6-439C-9D2A-AAAC16E7E80C}"/>
              </a:ext>
            </a:extLst>
          </p:cNvPr>
          <p:cNvSpPr>
            <a:spLocks noGrp="1"/>
          </p:cNvSpPr>
          <p:nvPr/>
        </p:nvSpPr>
        <p:spPr>
          <a:xfrm>
            <a:off x="9505950" y="3124200"/>
            <a:ext cx="1619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也会套利并抢先达到胜利资金。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0DC086-9948-4A7C-BAB5-41A48FB54E9B}"/>
              </a:ext>
            </a:extLst>
          </p:cNvPr>
          <p:cNvSpPr>
            <a:spLocks noGrp="1"/>
          </p:cNvSpPr>
          <p:nvPr/>
        </p:nvSpPr>
        <p:spPr>
          <a:xfrm>
            <a:off x="2476500" y="4648200"/>
            <a:ext cx="7239000" cy="704850"/>
          </a:xfrm>
          <a:prstGeom prst="rect">
            <a:avLst/>
          </a:prstGeom>
          <a:solidFill>
            <a:srgbClr val="F7EBD0">
              <a:alpha val="90196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BC9264-1D26-45EA-82D8-EF984035AA4F}"/>
              </a:ext>
            </a:extLst>
          </p:cNvPr>
          <p:cNvSpPr>
            <a:spLocks noGrp="1"/>
          </p:cNvSpPr>
          <p:nvPr/>
        </p:nvSpPr>
        <p:spPr>
          <a:xfrm>
            <a:off x="2838450" y="4838700"/>
            <a:ext cx="6515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设计目标不是找到单一最优策略，而是让玩家持续在利润、库存、生存供给和 AI 反制之间权衡。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259E901-16AB-4A39-88C6-36631D7AB2F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F23250-7137-4A46-A8EE-267818167DB5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864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F6D8B26-A191-4FF7-A6ED-BBB1C02BD4F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17D328-06F1-4989-88AD-09196889707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12B7ED-C817-4AD6-A240-556577D37C54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总体架构：DecisionLayer + ExecutionLayer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9D106C-2F32-4794-B3FA-26C4E6D0BDFF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Python 决策层负责状态和规则，Unity 执行层负责可视化和交互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B586C-6ED6-4611-B78E-168FCB0CC97E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4572000" cy="36195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97D045-E0D5-43C6-A997-34E655312A5D}"/>
              </a:ext>
            </a:extLst>
          </p:cNvPr>
          <p:cNvSpPr>
            <a:spLocks noGrp="1"/>
          </p:cNvSpPr>
          <p:nvPr/>
        </p:nvSpPr>
        <p:spPr>
          <a:xfrm>
            <a:off x="6838950" y="1352550"/>
            <a:ext cx="4572000" cy="36195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F788E2-12CC-439B-A349-8ABF50B6C1A2}"/>
              </a:ext>
            </a:extLst>
          </p:cNvPr>
          <p:cNvSpPr>
            <a:spLocks noGrp="1"/>
          </p:cNvSpPr>
          <p:nvPr/>
        </p:nvSpPr>
        <p:spPr>
          <a:xfrm>
            <a:off x="1085850" y="1581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DecisionLayer / Python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047AB9-3312-4657-B596-918D58AB04C3}"/>
              </a:ext>
            </a:extLst>
          </p:cNvPr>
          <p:cNvSpPr>
            <a:spLocks noGrp="1"/>
          </p:cNvSpPr>
          <p:nvPr/>
        </p:nvSpPr>
        <p:spPr>
          <a:xfrm>
            <a:off x="7143750" y="15811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ExecutionLayer / Unity 2D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C715C5-9FF1-47D6-BE7E-85867F23750C}"/>
              </a:ext>
            </a:extLst>
          </p:cNvPr>
          <p:cNvSpPr>
            <a:spLocks noGrp="1"/>
          </p:cNvSpPr>
          <p:nvPr/>
        </p:nvSpPr>
        <p:spPr>
          <a:xfrm>
            <a:off x="1238250" y="209550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4CE54A-8214-498C-BC2C-3AE1D8181021}"/>
              </a:ext>
            </a:extLst>
          </p:cNvPr>
          <p:cNvSpPr>
            <a:spLocks noGrp="1"/>
          </p:cNvSpPr>
          <p:nvPr/>
        </p:nvSpPr>
        <p:spPr>
          <a:xfrm>
            <a:off x="1371600" y="22288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WorldState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7244FF-2024-4655-9B1D-E91783CB8D0C}"/>
              </a:ext>
            </a:extLst>
          </p:cNvPr>
          <p:cNvSpPr>
            <a:spLocks noGrp="1"/>
          </p:cNvSpPr>
          <p:nvPr/>
        </p:nvSpPr>
        <p:spPr>
          <a:xfrm>
            <a:off x="1371600" y="251460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角色 / 地点 / 商品 / 事件 / 玩家资金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B2FEFE-AC2E-4A9A-8284-AECB6ED30196}"/>
              </a:ext>
            </a:extLst>
          </p:cNvPr>
          <p:cNvSpPr>
            <a:spLocks noGrp="1"/>
          </p:cNvSpPr>
          <p:nvPr/>
        </p:nvSpPr>
        <p:spPr>
          <a:xfrm>
            <a:off x="3143250" y="209550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F05EA1-AD66-4675-A34D-8EB4DC306EE7}"/>
              </a:ext>
            </a:extLst>
          </p:cNvPr>
          <p:cNvSpPr>
            <a:spLocks noGrp="1"/>
          </p:cNvSpPr>
          <p:nvPr/>
        </p:nvSpPr>
        <p:spPr>
          <a:xfrm>
            <a:off x="3276600" y="22288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AgentRuntime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656054-69E7-40FE-BA54-AB797D342E61}"/>
              </a:ext>
            </a:extLst>
          </p:cNvPr>
          <p:cNvSpPr>
            <a:spLocks noGrp="1"/>
          </p:cNvSpPr>
          <p:nvPr/>
        </p:nvSpPr>
        <p:spPr>
          <a:xfrm>
            <a:off x="3276600" y="25146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plan → act → execute → reflect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CB2E4F-ED08-46A5-AA76-8686F575F917}"/>
              </a:ext>
            </a:extLst>
          </p:cNvPr>
          <p:cNvSpPr>
            <a:spLocks noGrp="1"/>
          </p:cNvSpPr>
          <p:nvPr/>
        </p:nvSpPr>
        <p:spPr>
          <a:xfrm>
            <a:off x="1238250" y="329565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8F83456-5044-4EAC-98C3-402AAF519D51}"/>
              </a:ext>
            </a:extLst>
          </p:cNvPr>
          <p:cNvSpPr>
            <a:spLocks noGrp="1"/>
          </p:cNvSpPr>
          <p:nvPr/>
        </p:nvSpPr>
        <p:spPr>
          <a:xfrm>
            <a:off x="1371600" y="34290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ActionExecutor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5D48FB-0E3A-46C5-BDA2-54AE83E3BC4B}"/>
              </a:ext>
            </a:extLst>
          </p:cNvPr>
          <p:cNvSpPr>
            <a:spLocks noGrp="1"/>
          </p:cNvSpPr>
          <p:nvPr/>
        </p:nvSpPr>
        <p:spPr>
          <a:xfrm>
            <a:off x="1371600" y="37147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注册表 / 校验器 / handler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A07BDA-CC24-4E85-AE9A-023EA77E3D9A}"/>
              </a:ext>
            </a:extLst>
          </p:cNvPr>
          <p:cNvSpPr>
            <a:spLocks noGrp="1"/>
          </p:cNvSpPr>
          <p:nvPr/>
        </p:nvSpPr>
        <p:spPr>
          <a:xfrm>
            <a:off x="3143250" y="329565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B41202-34CD-4515-9DEF-9FCD666AEAEB}"/>
              </a:ext>
            </a:extLst>
          </p:cNvPr>
          <p:cNvSpPr>
            <a:spLocks noGrp="1"/>
          </p:cNvSpPr>
          <p:nvPr/>
        </p:nvSpPr>
        <p:spPr>
          <a:xfrm>
            <a:off x="3276600" y="34290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Market Settlement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D98DEA1-D362-4DF1-9507-14B6619CCD83}"/>
              </a:ext>
            </a:extLst>
          </p:cNvPr>
          <p:cNvSpPr>
            <a:spLocks noGrp="1"/>
          </p:cNvSpPr>
          <p:nvPr/>
        </p:nvSpPr>
        <p:spPr>
          <a:xfrm>
            <a:off x="3276600" y="37147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价格推进 / 库存 / 胜负判断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64CB7A-E77F-461A-8CD2-BAEE0FB5A677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E7E41C-842C-461D-8C8B-FC92CAC2714C}"/>
              </a:ext>
            </a:extLst>
          </p:cNvPr>
          <p:cNvSpPr>
            <a:spLocks noGrp="1"/>
          </p:cNvSpPr>
          <p:nvPr/>
        </p:nvSpPr>
        <p:spPr>
          <a:xfrm>
            <a:off x="7429500" y="222885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2D Town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F36747-91C2-4A99-95B4-A997C69C5C3B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场景实体 / 移动 / 动画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06C5A3-0004-473A-BDD5-1CF76232A41B}"/>
              </a:ext>
            </a:extLst>
          </p:cNvPr>
          <p:cNvSpPr>
            <a:spLocks noGrp="1"/>
          </p:cNvSpPr>
          <p:nvPr/>
        </p:nvSpPr>
        <p:spPr>
          <a:xfrm>
            <a:off x="9201150" y="209550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1A3EE8-F081-4FB2-B66F-E5A8654C982C}"/>
              </a:ext>
            </a:extLst>
          </p:cNvPr>
          <p:cNvSpPr>
            <a:spLocks noGrp="1"/>
          </p:cNvSpPr>
          <p:nvPr/>
        </p:nvSpPr>
        <p:spPr>
          <a:xfrm>
            <a:off x="9334500" y="22288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Shop UI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575B71-91FE-4D42-9ADA-BC96A36C7D33}"/>
              </a:ext>
            </a:extLst>
          </p:cNvPr>
          <p:cNvSpPr>
            <a:spLocks noGrp="1"/>
          </p:cNvSpPr>
          <p:nvPr/>
        </p:nvSpPr>
        <p:spPr>
          <a:xfrm>
            <a:off x="9334500" y="25146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定价 / 进货 / 资金 / 回合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F6B650-43B9-4B12-8740-4D3C023405DA}"/>
              </a:ext>
            </a:extLst>
          </p:cNvPr>
          <p:cNvSpPr>
            <a:spLocks noGrp="1"/>
          </p:cNvSpPr>
          <p:nvPr/>
        </p:nvSpPr>
        <p:spPr>
          <a:xfrm>
            <a:off x="7296150" y="3295650"/>
            <a:ext cx="16192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938527-11F6-4154-9D0F-36A7E97F5983}"/>
              </a:ext>
            </a:extLst>
          </p:cNvPr>
          <p:cNvSpPr>
            <a:spLocks noGrp="1"/>
          </p:cNvSpPr>
          <p:nvPr/>
        </p:nvSpPr>
        <p:spPr>
          <a:xfrm>
            <a:off x="7429500" y="34290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HUD Feedback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F6CB2C5-A600-4639-AC62-1B936E711440}"/>
              </a:ext>
            </a:extLst>
          </p:cNvPr>
          <p:cNvSpPr>
            <a:spLocks noGrp="1"/>
          </p:cNvSpPr>
          <p:nvPr/>
        </p:nvSpPr>
        <p:spPr>
          <a:xfrm>
            <a:off x="7429500" y="3714750"/>
            <a:ext cx="13525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状态条 / 消息 / 游戏结束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F6072B4-2F73-40FB-AB55-020665DFAE22}"/>
              </a:ext>
            </a:extLst>
          </p:cNvPr>
          <p:cNvSpPr>
            <a:spLocks noGrp="1"/>
          </p:cNvSpPr>
          <p:nvPr/>
        </p:nvSpPr>
        <p:spPr>
          <a:xfrm>
            <a:off x="9201150" y="3295650"/>
            <a:ext cx="1695450" cy="8382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96B1D1F-3DC7-4E75-B481-782D91CB7D0C}"/>
              </a:ext>
            </a:extLst>
          </p:cNvPr>
          <p:cNvSpPr>
            <a:spLocks noGrp="1"/>
          </p:cNvSpPr>
          <p:nvPr/>
        </p:nvSpPr>
        <p:spPr>
          <a:xfrm>
            <a:off x="9334500" y="342900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Player Input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FDFCB7-DC0E-4DF2-B253-A2D223757098}"/>
              </a:ext>
            </a:extLst>
          </p:cNvPr>
          <p:cNvSpPr>
            <a:spLocks noGrp="1"/>
          </p:cNvSpPr>
          <p:nvPr/>
        </p:nvSpPr>
        <p:spPr>
          <a:xfrm>
            <a:off x="9334500" y="37147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经营操作回传后端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D4178C-8E6C-437E-ADC7-751E5816C373}"/>
              </a:ext>
            </a:extLst>
          </p:cNvPr>
          <p:cNvSpPr>
            <a:spLocks noGrp="1"/>
          </p:cNvSpPr>
          <p:nvPr/>
        </p:nvSpPr>
        <p:spPr>
          <a:xfrm>
            <a:off x="5562600" y="2590800"/>
            <a:ext cx="1066800" cy="1123950"/>
          </a:xfrm>
          <a:prstGeom prst="rect">
            <a:avLst/>
          </a:prstGeom>
          <a:solidFill>
            <a:srgbClr val="F2DEBA">
              <a:alpha val="85098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785854-A4E2-484E-B936-E5E37B49920A}"/>
              </a:ext>
            </a:extLst>
          </p:cNvPr>
          <p:cNvSpPr>
            <a:spLocks noGrp="1"/>
          </p:cNvSpPr>
          <p:nvPr/>
        </p:nvSpPr>
        <p:spPr>
          <a:xfrm>
            <a:off x="5676900" y="2914650"/>
            <a:ext cx="838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WebSocket</a:t>
            </a:r>
          </a:p>
          <a:p>
            <a:pPr algn="ctr">
              <a:def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RPC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F1A7C3A-F18C-4213-97DD-A033A4B2B8AF}"/>
              </a:ext>
            </a:extLst>
          </p:cNvPr>
          <p:cNvSpPr>
            <a:spLocks noGrp="1"/>
          </p:cNvSpPr>
          <p:nvPr/>
        </p:nvSpPr>
        <p:spPr>
          <a:xfrm>
            <a:off x="4857750" y="3124200"/>
            <a:ext cx="7048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7603617-6516-4F40-A351-DDACC1F1ECE6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6667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6C6190-17F7-4DCB-855F-0BD70FC53CA9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25717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A34032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31728FD-EC8D-4D6B-A9B4-0ABC992E33D9}"/>
              </a:ext>
            </a:extLst>
          </p:cNvPr>
          <p:cNvSpPr>
            <a:spLocks noGrp="1"/>
          </p:cNvSpPr>
          <p:nvPr/>
        </p:nvSpPr>
        <p:spPr>
          <a:xfrm>
            <a:off x="1828800" y="5276850"/>
            <a:ext cx="2419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后端生成世界与 Agent 决策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3EB4633-1A6D-4556-9862-6300751355E0}"/>
              </a:ext>
            </a:extLst>
          </p:cNvPr>
          <p:cNvSpPr>
            <a:spLocks noGrp="1"/>
          </p:cNvSpPr>
          <p:nvPr/>
        </p:nvSpPr>
        <p:spPr>
          <a:xfrm>
            <a:off x="7886700" y="5219700"/>
            <a:ext cx="27241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355F4C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F8BFBF0-47AE-427B-832B-F72707893038}"/>
              </a:ext>
            </a:extLst>
          </p:cNvPr>
          <p:cNvSpPr>
            <a:spLocks noGrp="1"/>
          </p:cNvSpPr>
          <p:nvPr/>
        </p:nvSpPr>
        <p:spPr>
          <a:xfrm>
            <a:off x="7962900" y="527685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Unity 展示并收集玩家经营操作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A5CB7A4-6BB7-4EDB-AC89-C678713AA9A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25D3491-729F-47C2-9C6D-977152A6DDD1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685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C4C830-C403-4ADF-909C-C24B5846C40A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9D7D14-C3D7-4640-AB5A-92CD8967DB5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E69D9-B308-448A-8787-0FD51797CE7B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回合闭环：从商店阶段到日结算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18EE89-E65E-4C71-9A0F-8B38AA5E2D3B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系统不是模块拼接，而是一个可回执、可重规划、可结算的循环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EAD557-71C1-4B04-B5E5-AE7996D70873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2000250" cy="95250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96FD9-87E7-43D8-A2B0-1D5B58B41791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商店阶段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800477-CE2B-41B5-A792-387B4FE02A90}"/>
              </a:ext>
            </a:extLst>
          </p:cNvPr>
          <p:cNvSpPr>
            <a:spLocks noGrp="1"/>
          </p:cNvSpPr>
          <p:nvPr/>
        </p:nvSpPr>
        <p:spPr>
          <a:xfrm>
            <a:off x="106680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玩家提交价格与进货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1283F0-7A65-4D20-9605-EEFDB3D6C95E}"/>
              </a:ext>
            </a:extLst>
          </p:cNvPr>
          <p:cNvSpPr>
            <a:spLocks noGrp="1"/>
          </p:cNvSpPr>
          <p:nvPr/>
        </p:nvSpPr>
        <p:spPr>
          <a:xfrm>
            <a:off x="3676650" y="16192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A930BB-13F8-49CC-8D10-12E58FB34DB9}"/>
              </a:ext>
            </a:extLst>
          </p:cNvPr>
          <p:cNvSpPr>
            <a:spLocks noGrp="1"/>
          </p:cNvSpPr>
          <p:nvPr/>
        </p:nvSpPr>
        <p:spPr>
          <a:xfrm>
            <a:off x="381000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规划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797BD8-D654-44E7-8BDC-B0B256447D24}"/>
              </a:ext>
            </a:extLst>
          </p:cNvPr>
          <p:cNvSpPr>
            <a:spLocks noGrp="1"/>
          </p:cNvSpPr>
          <p:nvPr/>
        </p:nvSpPr>
        <p:spPr>
          <a:xfrm>
            <a:off x="381000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基于状态生成计划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00113F-7767-4D52-84E1-C09A2BC356D8}"/>
              </a:ext>
            </a:extLst>
          </p:cNvPr>
          <p:cNvSpPr>
            <a:spLocks noGrp="1"/>
          </p:cNvSpPr>
          <p:nvPr/>
        </p:nvSpPr>
        <p:spPr>
          <a:xfrm>
            <a:off x="6419850" y="16192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01185A-5CF1-4D7E-B79D-94D5FAFF7B58}"/>
              </a:ext>
            </a:extLst>
          </p:cNvPr>
          <p:cNvSpPr>
            <a:spLocks noGrp="1"/>
          </p:cNvSpPr>
          <p:nvPr/>
        </p:nvSpPr>
        <p:spPr>
          <a:xfrm>
            <a:off x="6553200" y="17526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行动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E9F916-B183-4B98-9907-EEAFC51B38A3}"/>
              </a:ext>
            </a:extLst>
          </p:cNvPr>
          <p:cNvSpPr>
            <a:spLocks noGrp="1"/>
          </p:cNvSpPr>
          <p:nvPr/>
        </p:nvSpPr>
        <p:spPr>
          <a:xfrm>
            <a:off x="6553200" y="20383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输出结构化动作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F6EE9-CC45-4E7D-B607-0948920E6E81}"/>
              </a:ext>
            </a:extLst>
          </p:cNvPr>
          <p:cNvSpPr>
            <a:spLocks noGrp="1"/>
          </p:cNvSpPr>
          <p:nvPr/>
        </p:nvSpPr>
        <p:spPr>
          <a:xfrm>
            <a:off x="641985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6DE545-95B3-4EFB-9DEE-3F9680B32028}"/>
              </a:ext>
            </a:extLst>
          </p:cNvPr>
          <p:cNvSpPr>
            <a:spLocks noGrp="1"/>
          </p:cNvSpPr>
          <p:nvPr/>
        </p:nvSpPr>
        <p:spPr>
          <a:xfrm>
            <a:off x="655320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动作校验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678E7A-5175-4C72-80DB-B6B8D1114C9A}"/>
              </a:ext>
            </a:extLst>
          </p:cNvPr>
          <p:cNvSpPr>
            <a:spLocks noGrp="1"/>
          </p:cNvSpPr>
          <p:nvPr/>
        </p:nvSpPr>
        <p:spPr>
          <a:xfrm>
            <a:off x="6553200" y="40195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位置 / 库存 / 资金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6F6E15-6CC3-45D6-B27A-7970863CFF7E}"/>
              </a:ext>
            </a:extLst>
          </p:cNvPr>
          <p:cNvSpPr>
            <a:spLocks noGrp="1"/>
          </p:cNvSpPr>
          <p:nvPr/>
        </p:nvSpPr>
        <p:spPr>
          <a:xfrm>
            <a:off x="367665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843A8-5E80-4659-A4E2-50F2C4FFDAB8}"/>
              </a:ext>
            </a:extLst>
          </p:cNvPr>
          <p:cNvSpPr>
            <a:spLocks noGrp="1"/>
          </p:cNvSpPr>
          <p:nvPr/>
        </p:nvSpPr>
        <p:spPr>
          <a:xfrm>
            <a:off x="381000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Unity 执行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8530F84-673C-4F1F-A670-CE2DA69F99CF}"/>
              </a:ext>
            </a:extLst>
          </p:cNvPr>
          <p:cNvSpPr>
            <a:spLocks noGrp="1"/>
          </p:cNvSpPr>
          <p:nvPr/>
        </p:nvSpPr>
        <p:spPr>
          <a:xfrm>
            <a:off x="3810000" y="40195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动画和反馈回执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0A7434-7BC8-4C6F-ACE9-3DC5F25A5C18}"/>
              </a:ext>
            </a:extLst>
          </p:cNvPr>
          <p:cNvSpPr>
            <a:spLocks noGrp="1"/>
          </p:cNvSpPr>
          <p:nvPr/>
        </p:nvSpPr>
        <p:spPr>
          <a:xfrm>
            <a:off x="933450" y="3600450"/>
            <a:ext cx="2000250" cy="9525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A47A1A-1844-4501-A601-F9845BF6F4FA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1733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回合结算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9F2377-D9E0-4FCA-A620-DF3B1E0C0574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1733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价格 / 库存 / 事件 / 胜负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481EB3-4B6A-44C0-A791-FD484FE6D621}"/>
              </a:ext>
            </a:extLst>
          </p:cNvPr>
          <p:cNvSpPr>
            <a:spLocks noGrp="1"/>
          </p:cNvSpPr>
          <p:nvPr/>
        </p:nvSpPr>
        <p:spPr>
          <a:xfrm>
            <a:off x="2933700" y="2076450"/>
            <a:ext cx="7429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B78930-5E05-4498-AAD1-492F8509ED3D}"/>
              </a:ext>
            </a:extLst>
          </p:cNvPr>
          <p:cNvSpPr>
            <a:spLocks noGrp="1"/>
          </p:cNvSpPr>
          <p:nvPr/>
        </p:nvSpPr>
        <p:spPr>
          <a:xfrm>
            <a:off x="5676900" y="2076450"/>
            <a:ext cx="7429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8EE44D-299F-4EFA-982C-51C888BA32BA}"/>
              </a:ext>
            </a:extLst>
          </p:cNvPr>
          <p:cNvSpPr>
            <a:spLocks noGrp="1"/>
          </p:cNvSpPr>
          <p:nvPr/>
        </p:nvSpPr>
        <p:spPr>
          <a:xfrm>
            <a:off x="7400925" y="2571750"/>
            <a:ext cx="38100" cy="10287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FD3943-D7FC-4AF1-9AF6-E540A8DB3A37}"/>
              </a:ext>
            </a:extLst>
          </p:cNvPr>
          <p:cNvSpPr>
            <a:spLocks noGrp="1"/>
          </p:cNvSpPr>
          <p:nvPr/>
        </p:nvSpPr>
        <p:spPr>
          <a:xfrm>
            <a:off x="5676900" y="4057650"/>
            <a:ext cx="7429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5191822-EC2E-4594-B09C-0503F654585E}"/>
              </a:ext>
            </a:extLst>
          </p:cNvPr>
          <p:cNvSpPr>
            <a:spLocks noGrp="1"/>
          </p:cNvSpPr>
          <p:nvPr/>
        </p:nvSpPr>
        <p:spPr>
          <a:xfrm>
            <a:off x="2933700" y="4057650"/>
            <a:ext cx="74295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940063-4524-45C6-AD91-CA2E528C3B1F}"/>
              </a:ext>
            </a:extLst>
          </p:cNvPr>
          <p:cNvSpPr>
            <a:spLocks noGrp="1"/>
          </p:cNvSpPr>
          <p:nvPr/>
        </p:nvSpPr>
        <p:spPr>
          <a:xfrm>
            <a:off x="1914525" y="2571750"/>
            <a:ext cx="38100" cy="10287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44F9F0-FA21-457F-8205-F15CBBE00D5E}"/>
              </a:ext>
            </a:extLst>
          </p:cNvPr>
          <p:cNvSpPr>
            <a:spLocks noGrp="1"/>
          </p:cNvSpPr>
          <p:nvPr/>
        </p:nvSpPr>
        <p:spPr>
          <a:xfrm>
            <a:off x="9086850" y="1676400"/>
            <a:ext cx="2038350" cy="26860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93DEA4-A6FB-48BE-99A4-EE99CDC1BBD5}"/>
              </a:ext>
            </a:extLst>
          </p:cNvPr>
          <p:cNvSpPr>
            <a:spLocks noGrp="1"/>
          </p:cNvSpPr>
          <p:nvPr/>
        </p:nvSpPr>
        <p:spPr>
          <a:xfrm>
            <a:off x="9391650" y="19240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结算内容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DC9F71-2C7E-46E6-AE7B-9B94F73E61A2}"/>
              </a:ext>
            </a:extLst>
          </p:cNvPr>
          <p:cNvSpPr>
            <a:spLocks noGrp="1"/>
          </p:cNvSpPr>
          <p:nvPr/>
        </p:nvSpPr>
        <p:spPr>
          <a:xfrm>
            <a:off x="9429750" y="24955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B6C005-DC18-47CB-ADC5-45DE6B55B60C}"/>
              </a:ext>
            </a:extLst>
          </p:cNvPr>
          <p:cNvSpPr>
            <a:spLocks noGrp="1"/>
          </p:cNvSpPr>
          <p:nvPr/>
        </p:nvSpPr>
        <p:spPr>
          <a:xfrm>
            <a:off x="9639300" y="24193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玩家当日收入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A7B202-3376-43DB-8243-16F52D505772}"/>
              </a:ext>
            </a:extLst>
          </p:cNvPr>
          <p:cNvSpPr>
            <a:spLocks noGrp="1"/>
          </p:cNvSpPr>
          <p:nvPr/>
        </p:nvSpPr>
        <p:spPr>
          <a:xfrm>
            <a:off x="9429750" y="281940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4E86A-97EC-4494-A570-1E956001FBC1}"/>
              </a:ext>
            </a:extLst>
          </p:cNvPr>
          <p:cNvSpPr>
            <a:spLocks noGrp="1"/>
          </p:cNvSpPr>
          <p:nvPr/>
        </p:nvSpPr>
        <p:spPr>
          <a:xfrm>
            <a:off x="9639300" y="27432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市场价格推进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BB0A54-B1B1-40C3-94FF-6BCDFB1B8897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C79951-0597-458D-B1CA-8105F7E25B3E}"/>
              </a:ext>
            </a:extLst>
          </p:cNvPr>
          <p:cNvSpPr>
            <a:spLocks noGrp="1"/>
          </p:cNvSpPr>
          <p:nvPr/>
        </p:nvSpPr>
        <p:spPr>
          <a:xfrm>
            <a:off x="9639300" y="30670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生存消耗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AD0114-6F15-4DD1-8870-D3E62913C765}"/>
              </a:ext>
            </a:extLst>
          </p:cNvPr>
          <p:cNvSpPr>
            <a:spLocks noGrp="1"/>
          </p:cNvSpPr>
          <p:nvPr/>
        </p:nvSpPr>
        <p:spPr>
          <a:xfrm>
            <a:off x="9429750" y="346710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78C836E-73E1-4AD3-AB05-D8A777AF0254}"/>
              </a:ext>
            </a:extLst>
          </p:cNvPr>
          <p:cNvSpPr>
            <a:spLocks noGrp="1"/>
          </p:cNvSpPr>
          <p:nvPr/>
        </p:nvSpPr>
        <p:spPr>
          <a:xfrm>
            <a:off x="9639300" y="339090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随机事件触发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86EAEAF-45D9-480A-8328-47C6F341A4E9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B6D9F3-0938-4F3B-85BB-8AFA2922343F}"/>
              </a:ext>
            </a:extLst>
          </p:cNvPr>
          <p:cNvSpPr>
            <a:spLocks noGrp="1"/>
          </p:cNvSpPr>
          <p:nvPr/>
        </p:nvSpPr>
        <p:spPr>
          <a:xfrm>
            <a:off x="9639300" y="37147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决策点影响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6CF30C-017A-4A1C-8BDF-D3494AD2D0D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0DE2CA5-D5B3-432A-AC3E-ED2BAC37309E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443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7FF8E7-2E37-4530-9861-B1F16477A61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2DF248-71A8-43B0-9313-A6EF1B3C166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6C8841-20AD-4B80-A85A-040F163827C2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Agent 决策链：plan → act → execute → reflect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3B3268-F5F6-4AC6-A7B0-7A128490F84A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LLM 不是单次问答，而是被放进持续运行的状态机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A88357-5892-4482-AAF7-7048BDF04450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114550" cy="1695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EE3FAF-79E4-4DD9-BC2B-238A424DDD64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B1BD8A-22C5-4C15-978A-D498FB625ECB}"/>
              </a:ext>
            </a:extLst>
          </p:cNvPr>
          <p:cNvSpPr>
            <a:spLocks noGrp="1"/>
          </p:cNvSpPr>
          <p:nvPr/>
        </p:nvSpPr>
        <p:spPr>
          <a:xfrm>
            <a:off x="1104900" y="2781300"/>
            <a:ext cx="1657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生成阶段性计划</a:t>
            </a:r>
          </a:p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理解目标与资源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F30899-9165-4563-9341-F957D620237D}"/>
              </a:ext>
            </a:extLst>
          </p:cNvPr>
          <p:cNvSpPr>
            <a:spLocks noGrp="1"/>
          </p:cNvSpPr>
          <p:nvPr/>
        </p:nvSpPr>
        <p:spPr>
          <a:xfrm>
            <a:off x="2990850" y="2828925"/>
            <a:ext cx="6096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B86E44-D75D-40D0-AD1A-E90386ACB06A}"/>
              </a:ext>
            </a:extLst>
          </p:cNvPr>
          <p:cNvSpPr>
            <a:spLocks noGrp="1"/>
          </p:cNvSpPr>
          <p:nvPr/>
        </p:nvSpPr>
        <p:spPr>
          <a:xfrm>
            <a:off x="3600450" y="2000250"/>
            <a:ext cx="2114550" cy="1695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A4C3A3-AA57-4D82-9946-DA42CC0539F2}"/>
              </a:ext>
            </a:extLst>
          </p:cNvPr>
          <p:cNvSpPr>
            <a:spLocks noGrp="1"/>
          </p:cNvSpPr>
          <p:nvPr/>
        </p:nvSpPr>
        <p:spPr>
          <a:xfrm>
            <a:off x="3771900" y="22098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ACT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EBDE1E-C3FC-432A-9E85-892E397F7BEB}"/>
              </a:ext>
            </a:extLst>
          </p:cNvPr>
          <p:cNvSpPr>
            <a:spLocks noGrp="1"/>
          </p:cNvSpPr>
          <p:nvPr/>
        </p:nvSpPr>
        <p:spPr>
          <a:xfrm>
            <a:off x="3829050" y="2781300"/>
            <a:ext cx="1657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输出 JSON 动作</a:t>
            </a:r>
          </a:p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降低解析失败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D9FFE1-62F3-4A57-824C-73A84C239278}"/>
              </a:ext>
            </a:extLst>
          </p:cNvPr>
          <p:cNvSpPr>
            <a:spLocks noGrp="1"/>
          </p:cNvSpPr>
          <p:nvPr/>
        </p:nvSpPr>
        <p:spPr>
          <a:xfrm>
            <a:off x="5715000" y="2828925"/>
            <a:ext cx="6096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7387D6-AA18-4E45-9C9F-26435F435365}"/>
              </a:ext>
            </a:extLst>
          </p:cNvPr>
          <p:cNvSpPr>
            <a:spLocks noGrp="1"/>
          </p:cNvSpPr>
          <p:nvPr/>
        </p:nvSpPr>
        <p:spPr>
          <a:xfrm>
            <a:off x="6324600" y="2000250"/>
            <a:ext cx="2114550" cy="1695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48944A-0BD7-409E-A4CD-02A1E409ACC7}"/>
              </a:ext>
            </a:extLst>
          </p:cNvPr>
          <p:cNvSpPr>
            <a:spLocks noGrp="1"/>
          </p:cNvSpPr>
          <p:nvPr/>
        </p:nvSpPr>
        <p:spPr>
          <a:xfrm>
            <a:off x="6496050" y="22098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264B12-8961-4DD4-8FDE-B8460F44B5DE}"/>
              </a:ext>
            </a:extLst>
          </p:cNvPr>
          <p:cNvSpPr>
            <a:spLocks noGrp="1"/>
          </p:cNvSpPr>
          <p:nvPr/>
        </p:nvSpPr>
        <p:spPr>
          <a:xfrm>
            <a:off x="6553200" y="2781300"/>
            <a:ext cx="1657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规则校验后执行</a:t>
            </a:r>
          </a:p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同步 Unity 回执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8CE981-CEAB-415D-AE32-42033CFF703D}"/>
              </a:ext>
            </a:extLst>
          </p:cNvPr>
          <p:cNvSpPr>
            <a:spLocks noGrp="1"/>
          </p:cNvSpPr>
          <p:nvPr/>
        </p:nvSpPr>
        <p:spPr>
          <a:xfrm>
            <a:off x="8439150" y="2828925"/>
            <a:ext cx="6096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4B55EE-C6E3-479B-AB5B-4673C2803431}"/>
              </a:ext>
            </a:extLst>
          </p:cNvPr>
          <p:cNvSpPr>
            <a:spLocks noGrp="1"/>
          </p:cNvSpPr>
          <p:nvPr/>
        </p:nvSpPr>
        <p:spPr>
          <a:xfrm>
            <a:off x="9048750" y="2000250"/>
            <a:ext cx="2114550" cy="1695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F8604C-9A01-463A-AD89-31DD417060C4}"/>
              </a:ext>
            </a:extLst>
          </p:cNvPr>
          <p:cNvSpPr>
            <a:spLocks noGrp="1"/>
          </p:cNvSpPr>
          <p:nvPr/>
        </p:nvSpPr>
        <p:spPr>
          <a:xfrm>
            <a:off x="9220200" y="22098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REFLECT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8B4F17-1E57-4AD8-9872-7D0B601EB2F2}"/>
              </a:ext>
            </a:extLst>
          </p:cNvPr>
          <p:cNvSpPr>
            <a:spLocks noGrp="1"/>
          </p:cNvSpPr>
          <p:nvPr/>
        </p:nvSpPr>
        <p:spPr>
          <a:xfrm>
            <a:off x="9277350" y="2781300"/>
            <a:ext cx="1657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记录反思</a:t>
            </a:r>
          </a:p>
          <a:p>
            <a:pPr algn="ctr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进入下一轮上下文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8EBFB9-B53F-42CA-9103-E6B36170D265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8839200" cy="6858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561571-F798-4F23-8034-97920ED551C3}"/>
              </a:ext>
            </a:extLst>
          </p:cNvPr>
          <p:cNvSpPr>
            <a:spLocks noGrp="1"/>
          </p:cNvSpPr>
          <p:nvPr/>
        </p:nvSpPr>
        <p:spPr>
          <a:xfrm>
            <a:off x="2000250" y="4667250"/>
            <a:ext cx="819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失败恢复策略：动作非法、重复循环、交易震荡、拆分动作等情况会触发错误反馈和强制重规划。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7130D6-2EE5-4479-A263-AA8625CEC30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B2BCFC-2320-4EEA-B09D-621B36103327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877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07DB325-11E0-456D-B51A-111657A26AB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C448CA-48E1-4607-96DD-B0B04F971C6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EBBB7D-FECF-4B52-B029-BBEA4123FA0C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动作系统：LLM 只提议，规则系统来裁决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39AA7A-60D0-4F51-8912-46074504CACC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把模型输出变成“待审查动作提案”，而不是直接执行的命令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159178-24F3-4192-9D43-659B8183AC8B}"/>
              </a:ext>
            </a:extLst>
          </p:cNvPr>
          <p:cNvSpPr>
            <a:spLocks noGrp="1"/>
          </p:cNvSpPr>
          <p:nvPr/>
        </p:nvSpPr>
        <p:spPr>
          <a:xfrm>
            <a:off x="819150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0C790A-D2FB-4910-BA16-BB3A41E82851}"/>
              </a:ext>
            </a:extLst>
          </p:cNvPr>
          <p:cNvSpPr>
            <a:spLocks noGrp="1"/>
          </p:cNvSpPr>
          <p:nvPr/>
        </p:nvSpPr>
        <p:spPr>
          <a:xfrm>
            <a:off x="4476750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683BD9-7814-4018-9AAE-85701B9850BD}"/>
              </a:ext>
            </a:extLst>
          </p:cNvPr>
          <p:cNvSpPr>
            <a:spLocks noGrp="1"/>
          </p:cNvSpPr>
          <p:nvPr/>
        </p:nvSpPr>
        <p:spPr>
          <a:xfrm>
            <a:off x="8134350" y="1466850"/>
            <a:ext cx="3238500" cy="34290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38C24B-747D-4E2E-8C89-FA5A7942B35E}"/>
              </a:ext>
            </a:extLst>
          </p:cNvPr>
          <p:cNvSpPr>
            <a:spLocks noGrp="1"/>
          </p:cNvSpPr>
          <p:nvPr/>
        </p:nvSpPr>
        <p:spPr>
          <a:xfrm>
            <a:off x="12573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动作注册表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4AC820-2030-44F8-9853-DCADCD4998CC}"/>
              </a:ext>
            </a:extLst>
          </p:cNvPr>
          <p:cNvSpPr>
            <a:spLocks noGrp="1"/>
          </p:cNvSpPr>
          <p:nvPr/>
        </p:nvSpPr>
        <p:spPr>
          <a:xfrm>
            <a:off x="1390650" y="24193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C980FE-0329-4936-977B-3598B7F77E97}"/>
              </a:ext>
            </a:extLst>
          </p:cNvPr>
          <p:cNvSpPr>
            <a:spLocks noGrp="1"/>
          </p:cNvSpPr>
          <p:nvPr/>
        </p:nvSpPr>
        <p:spPr>
          <a:xfrm>
            <a:off x="1600200" y="23431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move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803855-A5E7-4EBD-8D1B-129E73AD8DB2}"/>
              </a:ext>
            </a:extLst>
          </p:cNvPr>
          <p:cNvSpPr>
            <a:spLocks noGrp="1"/>
          </p:cNvSpPr>
          <p:nvPr/>
        </p:nvSpPr>
        <p:spPr>
          <a:xfrm>
            <a:off x="1390650" y="27813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5300C8-F6B4-46BB-A06B-178775F81374}"/>
              </a:ext>
            </a:extLst>
          </p:cNvPr>
          <p:cNvSpPr>
            <a:spLocks noGrp="1"/>
          </p:cNvSpPr>
          <p:nvPr/>
        </p:nvSpPr>
        <p:spPr>
          <a:xfrm>
            <a:off x="1600200" y="27051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buy / sell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EB0F2B-1970-40F4-8F46-58FED98A7E83}"/>
              </a:ext>
            </a:extLst>
          </p:cNvPr>
          <p:cNvSpPr>
            <a:spLocks noGrp="1"/>
          </p:cNvSpPr>
          <p:nvPr/>
        </p:nvSpPr>
        <p:spPr>
          <a:xfrm>
            <a:off x="1390650" y="31432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7585C3-3AE3-43A7-A342-CBEA8113AD9C}"/>
              </a:ext>
            </a:extLst>
          </p:cNvPr>
          <p:cNvSpPr>
            <a:spLocks noGrp="1"/>
          </p:cNvSpPr>
          <p:nvPr/>
        </p:nvSpPr>
        <p:spPr>
          <a:xfrm>
            <a:off x="1600200" y="30670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consume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EDA21-DBC2-42B4-99B8-471A54B0CFC1}"/>
              </a:ext>
            </a:extLst>
          </p:cNvPr>
          <p:cNvSpPr>
            <a:spLocks noGrp="1"/>
          </p:cNvSpPr>
          <p:nvPr/>
        </p:nvSpPr>
        <p:spPr>
          <a:xfrm>
            <a:off x="1390650" y="35052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23799F-F6BD-44C2-A2E3-6DCA0A51762E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sleep / wait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F17B0B-DEB3-42F5-8E8A-58BF60E0FB28}"/>
              </a:ext>
            </a:extLst>
          </p:cNvPr>
          <p:cNvSpPr>
            <a:spLocks noGrp="1"/>
          </p:cNvSpPr>
          <p:nvPr/>
        </p:nvSpPr>
        <p:spPr>
          <a:xfrm>
            <a:off x="1390650" y="38671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946B57-CFEE-45BE-8759-0A0503F301A6}"/>
              </a:ext>
            </a:extLst>
          </p:cNvPr>
          <p:cNvSpPr>
            <a:spLocks noGrp="1"/>
          </p:cNvSpPr>
          <p:nvPr/>
        </p:nvSpPr>
        <p:spPr>
          <a:xfrm>
            <a:off x="1600200" y="379095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0DE5F6-DCBE-4B78-832B-BC439D05AC54}"/>
              </a:ext>
            </a:extLst>
          </p:cNvPr>
          <p:cNvSpPr>
            <a:spLocks noGrp="1"/>
          </p:cNvSpPr>
          <p:nvPr/>
        </p:nvSpPr>
        <p:spPr>
          <a:xfrm>
            <a:off x="49149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Validator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FAC856-8320-44CB-9FFE-CF1831951FF5}"/>
              </a:ext>
            </a:extLst>
          </p:cNvPr>
          <p:cNvSpPr>
            <a:spLocks noGrp="1"/>
          </p:cNvSpPr>
          <p:nvPr/>
        </p:nvSpPr>
        <p:spPr>
          <a:xfrm>
            <a:off x="5067300" y="24193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FCEF23-E500-4669-A82C-56828298F5EA}"/>
              </a:ext>
            </a:extLst>
          </p:cNvPr>
          <p:cNvSpPr>
            <a:spLocks noGrp="1"/>
          </p:cNvSpPr>
          <p:nvPr/>
        </p:nvSpPr>
        <p:spPr>
          <a:xfrm>
            <a:off x="5276850" y="23431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是否在市场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ECDB02-386E-47D7-87C7-0329C5177779}"/>
              </a:ext>
            </a:extLst>
          </p:cNvPr>
          <p:cNvSpPr>
            <a:spLocks noGrp="1"/>
          </p:cNvSpPr>
          <p:nvPr/>
        </p:nvSpPr>
        <p:spPr>
          <a:xfrm>
            <a:off x="5067300" y="278130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A02863-5108-44B4-872D-D1BBF710B655}"/>
              </a:ext>
            </a:extLst>
          </p:cNvPr>
          <p:cNvSpPr>
            <a:spLocks noGrp="1"/>
          </p:cNvSpPr>
          <p:nvPr/>
        </p:nvSpPr>
        <p:spPr>
          <a:xfrm>
            <a:off x="5276850" y="2705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库存是否足够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399481-1E21-48F3-91EB-80320DA895F0}"/>
              </a:ext>
            </a:extLst>
          </p:cNvPr>
          <p:cNvSpPr>
            <a:spLocks noGrp="1"/>
          </p:cNvSpPr>
          <p:nvPr/>
        </p:nvSpPr>
        <p:spPr>
          <a:xfrm>
            <a:off x="5067300" y="31432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D3971F-1315-4CAD-8BBE-CA31BD1B9A27}"/>
              </a:ext>
            </a:extLst>
          </p:cNvPr>
          <p:cNvSpPr>
            <a:spLocks noGrp="1"/>
          </p:cNvSpPr>
          <p:nvPr/>
        </p:nvSpPr>
        <p:spPr>
          <a:xfrm>
            <a:off x="5276850" y="30670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资金是否足够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BC8633-5A99-45C7-BBD6-912DAAB1D517}"/>
              </a:ext>
            </a:extLst>
          </p:cNvPr>
          <p:cNvSpPr>
            <a:spLocks noGrp="1"/>
          </p:cNvSpPr>
          <p:nvPr/>
        </p:nvSpPr>
        <p:spPr>
          <a:xfrm>
            <a:off x="5067300" y="350520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C41BB4C-CE98-46E6-B52B-24A1AB665CA3}"/>
              </a:ext>
            </a:extLst>
          </p:cNvPr>
          <p:cNvSpPr>
            <a:spLocks noGrp="1"/>
          </p:cNvSpPr>
          <p:nvPr/>
        </p:nvSpPr>
        <p:spPr>
          <a:xfrm>
            <a:off x="5276850" y="34290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背包是否有物品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0295233-6E10-4DE0-8B17-27023A090BCE}"/>
              </a:ext>
            </a:extLst>
          </p:cNvPr>
          <p:cNvSpPr>
            <a:spLocks noGrp="1"/>
          </p:cNvSpPr>
          <p:nvPr/>
        </p:nvSpPr>
        <p:spPr>
          <a:xfrm>
            <a:off x="5067300" y="38671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0831D57-F3BB-49B0-B065-EBA883D9DFF3}"/>
              </a:ext>
            </a:extLst>
          </p:cNvPr>
          <p:cNvSpPr>
            <a:spLocks noGrp="1"/>
          </p:cNvSpPr>
          <p:nvPr/>
        </p:nvSpPr>
        <p:spPr>
          <a:xfrm>
            <a:off x="5276850" y="37909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是否触发保护机制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08EF6C-9F06-4D32-8F56-B4FD2BC86A9B}"/>
              </a:ext>
            </a:extLst>
          </p:cNvPr>
          <p:cNvSpPr>
            <a:spLocks noGrp="1"/>
          </p:cNvSpPr>
          <p:nvPr/>
        </p:nvSpPr>
        <p:spPr>
          <a:xfrm>
            <a:off x="8572500" y="1752600"/>
            <a:ext cx="2381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Handler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DA9C76-D7F8-4EF3-841C-16AF8440B737}"/>
              </a:ext>
            </a:extLst>
          </p:cNvPr>
          <p:cNvSpPr>
            <a:spLocks noGrp="1"/>
          </p:cNvSpPr>
          <p:nvPr/>
        </p:nvSpPr>
        <p:spPr>
          <a:xfrm>
            <a:off x="8724900" y="24193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46F8C1-CB7C-4CAC-9477-20C45C8A961F}"/>
              </a:ext>
            </a:extLst>
          </p:cNvPr>
          <p:cNvSpPr>
            <a:spLocks noGrp="1"/>
          </p:cNvSpPr>
          <p:nvPr/>
        </p:nvSpPr>
        <p:spPr>
          <a:xfrm>
            <a:off x="8934450" y="23431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修改世界状态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65C23C-5F6A-4BD2-89B1-6307B083ED06}"/>
              </a:ext>
            </a:extLst>
          </p:cNvPr>
          <p:cNvSpPr>
            <a:spLocks noGrp="1"/>
          </p:cNvSpPr>
          <p:nvPr/>
        </p:nvSpPr>
        <p:spPr>
          <a:xfrm>
            <a:off x="8724900" y="278130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AE106F-E8D2-446F-A975-D63B73556B54}"/>
              </a:ext>
            </a:extLst>
          </p:cNvPr>
          <p:cNvSpPr>
            <a:spLocks noGrp="1"/>
          </p:cNvSpPr>
          <p:nvPr/>
        </p:nvSpPr>
        <p:spPr>
          <a:xfrm>
            <a:off x="8934450" y="27051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扣除/增加资金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FE2556D-EEDE-46D3-B896-3D514627EF69}"/>
              </a:ext>
            </a:extLst>
          </p:cNvPr>
          <p:cNvSpPr>
            <a:spLocks noGrp="1"/>
          </p:cNvSpPr>
          <p:nvPr/>
        </p:nvSpPr>
        <p:spPr>
          <a:xfrm>
            <a:off x="8724900" y="31432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21D343B-FFBF-4646-902C-1DE7447707A1}"/>
              </a:ext>
            </a:extLst>
          </p:cNvPr>
          <p:cNvSpPr>
            <a:spLocks noGrp="1"/>
          </p:cNvSpPr>
          <p:nvPr/>
        </p:nvSpPr>
        <p:spPr>
          <a:xfrm>
            <a:off x="8934450" y="30670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更新库存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B1FAA8-F2C5-402A-A571-BFAD12D726E3}"/>
              </a:ext>
            </a:extLst>
          </p:cNvPr>
          <p:cNvSpPr>
            <a:spLocks noGrp="1"/>
          </p:cNvSpPr>
          <p:nvPr/>
        </p:nvSpPr>
        <p:spPr>
          <a:xfrm>
            <a:off x="8724900" y="350520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78DF26-47BD-4C74-A028-5405C5BCDC3E}"/>
              </a:ext>
            </a:extLst>
          </p:cNvPr>
          <p:cNvSpPr>
            <a:spLocks noGrp="1"/>
          </p:cNvSpPr>
          <p:nvPr/>
        </p:nvSpPr>
        <p:spPr>
          <a:xfrm>
            <a:off x="8934450" y="342900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广播市场信息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ECE1355-D1C0-462E-9CB2-ADC79916D0C2}"/>
              </a:ext>
            </a:extLst>
          </p:cNvPr>
          <p:cNvSpPr>
            <a:spLocks noGrp="1"/>
          </p:cNvSpPr>
          <p:nvPr/>
        </p:nvSpPr>
        <p:spPr>
          <a:xfrm>
            <a:off x="8724900" y="38671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3A12472-E543-435B-A9DA-3D87FFC3D6B8}"/>
              </a:ext>
            </a:extLst>
          </p:cNvPr>
          <p:cNvSpPr>
            <a:spLocks noGrp="1"/>
          </p:cNvSpPr>
          <p:nvPr/>
        </p:nvSpPr>
        <p:spPr>
          <a:xfrm>
            <a:off x="8934450" y="3790950"/>
            <a:ext cx="1981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通知 Unity 动画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800F96-F186-4B34-9C2A-C17FCBE7A68F}"/>
              </a:ext>
            </a:extLst>
          </p:cNvPr>
          <p:cNvSpPr>
            <a:spLocks noGrp="1"/>
          </p:cNvSpPr>
          <p:nvPr/>
        </p:nvSpPr>
        <p:spPr>
          <a:xfrm>
            <a:off x="2000250" y="5257800"/>
            <a:ext cx="8191500" cy="51435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CB1DF14-E43C-4667-87E9-3D45C1E5F893}"/>
              </a:ext>
            </a:extLst>
          </p:cNvPr>
          <p:cNvSpPr>
            <a:spLocks noGrp="1"/>
          </p:cNvSpPr>
          <p:nvPr/>
        </p:nvSpPr>
        <p:spPr>
          <a:xfrm>
            <a:off x="2247900" y="5410200"/>
            <a:ext cx="7696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答辩表达：系统可靠性来自 PromptBuilder + JSON 输出约束 + ActionExecutor 确定性校验三层结构。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15E2C2-A8FC-418E-B5A5-63465D3A0958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EC7E62-1341-46EB-BD9B-295092B695F8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9284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60D0256-4E0C-4645-A07C-68E3F494753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202334-B9C1-461D-AF88-F5DD6E41E7D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827F69-BB95-448A-AE7F-6C447A3F34F1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WebSocket 伪 RPC：把 Unity 当作远端动作服务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B04257-4ACE-4D57-872D-719CA018BD59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每个动作有唯一 action_id，后端等待 Unity 回执后继续推进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9BAB55-6BA7-4CF2-9E83-AED70656C7B7}"/>
              </a:ext>
            </a:extLst>
          </p:cNvPr>
          <p:cNvSpPr>
            <a:spLocks noGrp="1"/>
          </p:cNvSpPr>
          <p:nvPr/>
        </p:nvSpPr>
        <p:spPr>
          <a:xfrm>
            <a:off x="1143000" y="1485900"/>
            <a:ext cx="3429000" cy="7239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D11672-D0F2-4F1C-AA49-FE1EEEA327A4}"/>
              </a:ext>
            </a:extLst>
          </p:cNvPr>
          <p:cNvSpPr>
            <a:spLocks noGrp="1"/>
          </p:cNvSpPr>
          <p:nvPr/>
        </p:nvSpPr>
        <p:spPr>
          <a:xfrm>
            <a:off x="1276350" y="1619250"/>
            <a:ext cx="3162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Python 后端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B23FC2-D7A9-4DEF-969C-98BB8292D561}"/>
              </a:ext>
            </a:extLst>
          </p:cNvPr>
          <p:cNvSpPr>
            <a:spLocks noGrp="1"/>
          </p:cNvSpPr>
          <p:nvPr/>
        </p:nvSpPr>
        <p:spPr>
          <a:xfrm>
            <a:off x="1276350" y="190500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生成 command + action_id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6870A9E-CE28-44F9-9324-5453B11F290F}"/>
              </a:ext>
            </a:extLst>
          </p:cNvPr>
          <p:cNvSpPr>
            <a:spLocks noGrp="1"/>
          </p:cNvSpPr>
          <p:nvPr/>
        </p:nvSpPr>
        <p:spPr>
          <a:xfrm>
            <a:off x="7239000" y="2486025"/>
            <a:ext cx="3429000" cy="72390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8344B2-6E38-4D68-BB0B-0982EE8C63F4}"/>
              </a:ext>
            </a:extLst>
          </p:cNvPr>
          <p:cNvSpPr>
            <a:spLocks noGrp="1"/>
          </p:cNvSpPr>
          <p:nvPr/>
        </p:nvSpPr>
        <p:spPr>
          <a:xfrm>
            <a:off x="7372350" y="2619375"/>
            <a:ext cx="3162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pending 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E28EEF-81B5-43AC-96F4-0EE2420CE1BD}"/>
              </a:ext>
            </a:extLst>
          </p:cNvPr>
          <p:cNvSpPr>
            <a:spLocks noGrp="1"/>
          </p:cNvSpPr>
          <p:nvPr/>
        </p:nvSpPr>
        <p:spPr>
          <a:xfrm>
            <a:off x="7372350" y="2905125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挂起 Future，等待 complete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500288-42AD-4B9D-A3E1-8474F48ED568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3429000" cy="7239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492188-D9A8-424A-8A40-0AEAC6C128DA}"/>
              </a:ext>
            </a:extLst>
          </p:cNvPr>
          <p:cNvSpPr>
            <a:spLocks noGrp="1"/>
          </p:cNvSpPr>
          <p:nvPr/>
        </p:nvSpPr>
        <p:spPr>
          <a:xfrm>
            <a:off x="1276350" y="3619500"/>
            <a:ext cx="3162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Unity 客户端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AD1FFF-A6A3-4A5C-8438-C963AEB72664}"/>
              </a:ext>
            </a:extLst>
          </p:cNvPr>
          <p:cNvSpPr>
            <a:spLocks noGrp="1"/>
          </p:cNvSpPr>
          <p:nvPr/>
        </p:nvSpPr>
        <p:spPr>
          <a:xfrm>
            <a:off x="1276350" y="3905250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执行移动、交易、动画、UI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653790-CB17-409C-982F-2B366C6A3B04}"/>
              </a:ext>
            </a:extLst>
          </p:cNvPr>
          <p:cNvSpPr>
            <a:spLocks noGrp="1"/>
          </p:cNvSpPr>
          <p:nvPr/>
        </p:nvSpPr>
        <p:spPr>
          <a:xfrm>
            <a:off x="7239000" y="4486275"/>
            <a:ext cx="3429000" cy="72390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4186C3-9F3A-4C63-B299-84EAD84BC393}"/>
              </a:ext>
            </a:extLst>
          </p:cNvPr>
          <p:cNvSpPr>
            <a:spLocks noGrp="1"/>
          </p:cNvSpPr>
          <p:nvPr/>
        </p:nvSpPr>
        <p:spPr>
          <a:xfrm>
            <a:off x="7372350" y="4619625"/>
            <a:ext cx="3162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complete 回执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03A487-4543-42F5-A7DA-6A6BB73726A4}"/>
              </a:ext>
            </a:extLst>
          </p:cNvPr>
          <p:cNvSpPr>
            <a:spLocks noGrp="1"/>
          </p:cNvSpPr>
          <p:nvPr/>
        </p:nvSpPr>
        <p:spPr>
          <a:xfrm>
            <a:off x="7372350" y="4905375"/>
            <a:ext cx="3162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同 action_id 返回状态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53DC9B-8102-4016-B1FA-1B61F6F174B7}"/>
              </a:ext>
            </a:extLst>
          </p:cNvPr>
          <p:cNvSpPr>
            <a:spLocks noGrp="1"/>
          </p:cNvSpPr>
          <p:nvPr/>
        </p:nvSpPr>
        <p:spPr>
          <a:xfrm>
            <a:off x="4572000" y="1828800"/>
            <a:ext cx="26670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CDF7A7-F738-4988-B2D1-10FEA0C512BB}"/>
              </a:ext>
            </a:extLst>
          </p:cNvPr>
          <p:cNvSpPr>
            <a:spLocks noGrp="1"/>
          </p:cNvSpPr>
          <p:nvPr/>
        </p:nvSpPr>
        <p:spPr>
          <a:xfrm>
            <a:off x="8934450" y="2209800"/>
            <a:ext cx="38100" cy="276225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7F39D5-186A-48B0-9E09-DE8C9468C153}"/>
              </a:ext>
            </a:extLst>
          </p:cNvPr>
          <p:cNvSpPr>
            <a:spLocks noGrp="1"/>
          </p:cNvSpPr>
          <p:nvPr/>
        </p:nvSpPr>
        <p:spPr>
          <a:xfrm>
            <a:off x="4572000" y="2828925"/>
            <a:ext cx="26670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66A0925-F984-4B39-815E-04BEDE4DB740}"/>
              </a:ext>
            </a:extLst>
          </p:cNvPr>
          <p:cNvSpPr>
            <a:spLocks noGrp="1"/>
          </p:cNvSpPr>
          <p:nvPr/>
        </p:nvSpPr>
        <p:spPr>
          <a:xfrm>
            <a:off x="2838450" y="3209925"/>
            <a:ext cx="38100" cy="276225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18E5B4-3B57-4CFE-BEC1-2DF1E238F977}"/>
              </a:ext>
            </a:extLst>
          </p:cNvPr>
          <p:cNvSpPr>
            <a:spLocks noGrp="1"/>
          </p:cNvSpPr>
          <p:nvPr/>
        </p:nvSpPr>
        <p:spPr>
          <a:xfrm>
            <a:off x="4572000" y="3829050"/>
            <a:ext cx="2667000" cy="38100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0B8989-A9F6-4504-A5EA-B48995A0A969}"/>
              </a:ext>
            </a:extLst>
          </p:cNvPr>
          <p:cNvSpPr>
            <a:spLocks noGrp="1"/>
          </p:cNvSpPr>
          <p:nvPr/>
        </p:nvSpPr>
        <p:spPr>
          <a:xfrm>
            <a:off x="1352550" y="5562600"/>
            <a:ext cx="9486900" cy="4191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DBED19-5BFF-42EB-BB75-CAE59758BBC1}"/>
              </a:ext>
            </a:extLst>
          </p:cNvPr>
          <p:cNvSpPr>
            <a:spLocks noGrp="1"/>
          </p:cNvSpPr>
          <p:nvPr/>
        </p:nvSpPr>
        <p:spPr>
          <a:xfrm>
            <a:off x="1619250" y="5676900"/>
            <a:ext cx="895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协议价值：决策层与执行层解耦；超时、失败、日志、重试都能放在通信层处理。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676900" y="2527283"/>
            <a:ext cx="666750" cy="641385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7B91FC3-1614-413B-9581-F45460A285B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4E8F31-4D12-4B44-8189-8C95E2FEFD6A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363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8232883-C93D-430C-B734-158CB5553BE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F91B9C-56FB-416A-8882-8952F06409E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1D7EB3-A9D3-4C17-9507-8D50D7EB74EE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经济系统：不是随机涨跌，而是可解释市场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4AD199-221B-4FA4-9D15-9A0EA1EDF0CC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均值回归 + 对数噪声 + 库存恢复 + 交易摩擦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BDA80B-5E59-4D0A-B0E2-2AFA76379E42}"/>
              </a:ext>
            </a:extLst>
          </p:cNvPr>
          <p:cNvSpPr>
            <a:spLocks noGrp="1"/>
          </p:cNvSpPr>
          <p:nvPr/>
        </p:nvSpPr>
        <p:spPr>
          <a:xfrm>
            <a:off x="742950" y="1314450"/>
            <a:ext cx="5715000" cy="20193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0CCB47-B63E-4899-9DAB-746D46CC004B}"/>
              </a:ext>
            </a:extLst>
          </p:cNvPr>
          <p:cNvSpPr>
            <a:spLocks noGrp="1"/>
          </p:cNvSpPr>
          <p:nvPr/>
        </p:nvSpPr>
        <p:spPr>
          <a:xfrm>
            <a:off x="1066800" y="15811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价格模型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F025CF-5435-4BC4-8239-D7B0F5E8A5FB}"/>
              </a:ext>
            </a:extLst>
          </p:cNvPr>
          <p:cNvSpPr>
            <a:spLocks noGrp="1"/>
          </p:cNvSpPr>
          <p:nvPr/>
        </p:nvSpPr>
        <p:spPr>
          <a:xfrm>
            <a:off x="1123950" y="207645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92819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392819"/>
                </a:solidFill>
                <a:latin typeface="Cambria Math"/>
                <a:ea typeface="Cambria Math"/>
                <a:cs typeface="Cambria Math"/>
              </a:rPr>
              <a:t>log Pₜ₊₁ = log Pₜ + κ(log P* − log Pₜ) + εₜ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927512-B7D2-4909-B308-79AE194F9E24}"/>
              </a:ext>
            </a:extLst>
          </p:cNvPr>
          <p:cNvSpPr>
            <a:spLocks noGrp="1"/>
          </p:cNvSpPr>
          <p:nvPr/>
        </p:nvSpPr>
        <p:spPr>
          <a:xfrm>
            <a:off x="1123950" y="2628900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εₜ ~ N(0, σ²)，在对数空间建模：价格天然为正，控制相对波动率。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44C5E-FB11-416B-B1E6-E7CDB5587107}"/>
              </a:ext>
            </a:extLst>
          </p:cNvPr>
          <p:cNvSpPr>
            <a:spLocks noGrp="1"/>
          </p:cNvSpPr>
          <p:nvPr/>
        </p:nvSpPr>
        <p:spPr>
          <a:xfrm>
            <a:off x="693420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A91470-7F17-4950-8F5B-E056BC8202D5}"/>
              </a:ext>
            </a:extLst>
          </p:cNvPr>
          <p:cNvSpPr>
            <a:spLocks noGrp="1"/>
          </p:cNvSpPr>
          <p:nvPr/>
        </p:nvSpPr>
        <p:spPr>
          <a:xfrm>
            <a:off x="702945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κ = 0.11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FE8C7E-26A1-437E-986C-95B94E56154E}"/>
              </a:ext>
            </a:extLst>
          </p:cNvPr>
          <p:cNvSpPr>
            <a:spLocks noGrp="1"/>
          </p:cNvSpPr>
          <p:nvPr/>
        </p:nvSpPr>
        <p:spPr>
          <a:xfrm>
            <a:off x="7048500" y="20002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约 6 天偏离半衰期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3445AC-E7C6-4D62-B1C5-980AA585DAEB}"/>
              </a:ext>
            </a:extLst>
          </p:cNvPr>
          <p:cNvSpPr>
            <a:spLocks noGrp="1"/>
          </p:cNvSpPr>
          <p:nvPr/>
        </p:nvSpPr>
        <p:spPr>
          <a:xfrm>
            <a:off x="870585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7E4D74-EDAF-4C94-B421-FADC0E6FCBBA}"/>
              </a:ext>
            </a:extLst>
          </p:cNvPr>
          <p:cNvSpPr>
            <a:spLocks noGrp="1"/>
          </p:cNvSpPr>
          <p:nvPr/>
        </p:nvSpPr>
        <p:spPr>
          <a:xfrm>
            <a:off x="880110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σ = 0.15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278FAA-01EE-4780-994D-2D535C130B51}"/>
              </a:ext>
            </a:extLst>
          </p:cNvPr>
          <p:cNvSpPr>
            <a:spLocks noGrp="1"/>
          </p:cNvSpPr>
          <p:nvPr/>
        </p:nvSpPr>
        <p:spPr>
          <a:xfrm>
            <a:off x="8820150" y="20002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消耗品约 ±16%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FA2CA1-D0E1-45EF-8D94-3DBE04E76229}"/>
              </a:ext>
            </a:extLst>
          </p:cNvPr>
          <p:cNvSpPr>
            <a:spLocks noGrp="1"/>
          </p:cNvSpPr>
          <p:nvPr/>
        </p:nvSpPr>
        <p:spPr>
          <a:xfrm>
            <a:off x="10477500" y="1390650"/>
            <a:ext cx="1524000" cy="10287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A956A2-0C27-44C7-8180-662862206089}"/>
              </a:ext>
            </a:extLst>
          </p:cNvPr>
          <p:cNvSpPr>
            <a:spLocks noGrp="1"/>
          </p:cNvSpPr>
          <p:nvPr/>
        </p:nvSpPr>
        <p:spPr>
          <a:xfrm>
            <a:off x="10572750" y="1562100"/>
            <a:ext cx="1333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σ = 0.4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F148AA-D6CF-4D2F-9580-F5FB8B81EC88}"/>
              </a:ext>
            </a:extLst>
          </p:cNvPr>
          <p:cNvSpPr>
            <a:spLocks noGrp="1"/>
          </p:cNvSpPr>
          <p:nvPr/>
        </p:nvSpPr>
        <p:spPr>
          <a:xfrm>
            <a:off x="10591800" y="20002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贵重品接近 ±50%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960090-FA20-4E9F-B5E3-997E4EF28E6B}"/>
              </a:ext>
            </a:extLst>
          </p:cNvPr>
          <p:cNvSpPr>
            <a:spLocks noGrp="1"/>
          </p:cNvSpPr>
          <p:nvPr/>
        </p:nvSpPr>
        <p:spPr>
          <a:xfrm>
            <a:off x="1485900" y="3905250"/>
            <a:ext cx="37147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51AE6B-21A4-4242-BCAF-44CEB42D3DE0}"/>
              </a:ext>
            </a:extLst>
          </p:cNvPr>
          <p:cNvSpPr>
            <a:spLocks noGrp="1"/>
          </p:cNvSpPr>
          <p:nvPr/>
        </p:nvSpPr>
        <p:spPr>
          <a:xfrm>
            <a:off x="1676400" y="39624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基本面锚点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BBBEF2-FCF3-474C-9F21-DB1F0030DBAC}"/>
              </a:ext>
            </a:extLst>
          </p:cNvPr>
          <p:cNvSpPr>
            <a:spLocks noGrp="1"/>
          </p:cNvSpPr>
          <p:nvPr/>
        </p:nvSpPr>
        <p:spPr>
          <a:xfrm>
            <a:off x="3314700" y="39624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basePrice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3D1CFB-DEA6-4710-8E74-0D19B2704303}"/>
              </a:ext>
            </a:extLst>
          </p:cNvPr>
          <p:cNvSpPr>
            <a:spLocks noGrp="1"/>
          </p:cNvSpPr>
          <p:nvPr/>
        </p:nvSpPr>
        <p:spPr>
          <a:xfrm>
            <a:off x="1485900" y="4343400"/>
            <a:ext cx="3714750" cy="323850"/>
          </a:xfrm>
          <a:prstGeom prst="rect">
            <a:avLst/>
          </a:prstGeom>
          <a:solidFill>
            <a:srgbClr val="FFF8E8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F67AD5-ACA2-4456-9A5F-B62D5F090DB5}"/>
              </a:ext>
            </a:extLst>
          </p:cNvPr>
          <p:cNvSpPr>
            <a:spLocks noGrp="1"/>
          </p:cNvSpPr>
          <p:nvPr/>
        </p:nvSpPr>
        <p:spPr>
          <a:xfrm>
            <a:off x="1676400" y="44005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交易摩擦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EABC7C-4FE6-40E4-BE98-EA73678EB585}"/>
              </a:ext>
            </a:extLst>
          </p:cNvPr>
          <p:cNvSpPr>
            <a:spLocks noGrp="1"/>
          </p:cNvSpPr>
          <p:nvPr/>
        </p:nvSpPr>
        <p:spPr>
          <a:xfrm>
            <a:off x="3314700" y="44005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sellRatio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BBC035-5B5D-41D5-8B9D-6D6848FE3599}"/>
              </a:ext>
            </a:extLst>
          </p:cNvPr>
          <p:cNvSpPr>
            <a:spLocks noGrp="1"/>
          </p:cNvSpPr>
          <p:nvPr/>
        </p:nvSpPr>
        <p:spPr>
          <a:xfrm>
            <a:off x="1485900" y="4781550"/>
            <a:ext cx="3714750" cy="3238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14366C-5086-46A4-8F07-99C4B828E290}"/>
              </a:ext>
            </a:extLst>
          </p:cNvPr>
          <p:cNvSpPr>
            <a:spLocks noGrp="1"/>
          </p:cNvSpPr>
          <p:nvPr/>
        </p:nvSpPr>
        <p:spPr>
          <a:xfrm>
            <a:off x="1676400" y="48387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供给约束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CA831C-205D-4AF9-99F3-C1894ED6BE6A}"/>
              </a:ext>
            </a:extLst>
          </p:cNvPr>
          <p:cNvSpPr>
            <a:spLocks noGrp="1"/>
          </p:cNvSpPr>
          <p:nvPr/>
        </p:nvSpPr>
        <p:spPr>
          <a:xfrm>
            <a:off x="3314700" y="48387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stock + restock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A061C8-FBE9-4B27-9B9B-3F1674362B28}"/>
              </a:ext>
            </a:extLst>
          </p:cNvPr>
          <p:cNvSpPr>
            <a:spLocks noGrp="1"/>
          </p:cNvSpPr>
          <p:nvPr/>
        </p:nvSpPr>
        <p:spPr>
          <a:xfrm>
            <a:off x="1485900" y="5219700"/>
            <a:ext cx="3714750" cy="323850"/>
          </a:xfrm>
          <a:prstGeom prst="rect">
            <a:avLst/>
          </a:prstGeom>
          <a:solidFill>
            <a:srgbClr val="FFF8E8">
              <a:alpha val="8000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29F28B-F99C-46FA-8EAA-267B2DF749C3}"/>
              </a:ext>
            </a:extLst>
          </p:cNvPr>
          <p:cNvSpPr>
            <a:spLocks noGrp="1"/>
          </p:cNvSpPr>
          <p:nvPr/>
        </p:nvSpPr>
        <p:spPr>
          <a:xfrm>
            <a:off x="1676400" y="527685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品类风险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555FA8-9ECC-4824-94DE-9C4D50EA1128}"/>
              </a:ext>
            </a:extLst>
          </p:cNvPr>
          <p:cNvSpPr>
            <a:spLocks noGrp="1"/>
          </p:cNvSpPr>
          <p:nvPr/>
        </p:nvSpPr>
        <p:spPr>
          <a:xfrm>
            <a:off x="3314700" y="527685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A34032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A34032"/>
                </a:solidFill>
                <a:latin typeface="Consolas"/>
                <a:ea typeface="Consolas"/>
                <a:cs typeface="Consolas"/>
              </a:rPr>
              <a:t>consumable / valuable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66A7F10-962E-4092-9429-AAB872C22013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4286250" cy="14287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C10EAA-7151-4FE7-94FB-2D03BE0B2119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66675" cy="14287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C688F7D-57BD-4E81-8FBD-E655C9E99310}"/>
              </a:ext>
            </a:extLst>
          </p:cNvPr>
          <p:cNvSpPr>
            <a:spLocks noGrp="1"/>
          </p:cNvSpPr>
          <p:nvPr/>
        </p:nvSpPr>
        <p:spPr>
          <a:xfrm>
            <a:off x="6400800" y="400050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设计结果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995DB9B-88CD-4AFC-AF71-62B25590EB39}"/>
              </a:ext>
            </a:extLst>
          </p:cNvPr>
          <p:cNvSpPr>
            <a:spLocks noGrp="1"/>
          </p:cNvSpPr>
          <p:nvPr/>
        </p:nvSpPr>
        <p:spPr>
          <a:xfrm>
            <a:off x="6400800" y="4362450"/>
            <a:ext cx="39052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消耗品偏稳定，支撑生存节奏；贵重品偏投机，提供财富博弈窗口。市场会持续给出机会，但不会长期失控。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19CC339-49D1-4B9A-AF3A-D421DC6073D9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76EE51-E8B0-4A9B-9C17-F82BE3E968B1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149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8490D42-6548-4FDB-A02C-38EA689DD1F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74CE0F-9F80-4C62-B198-94C211292500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5E8DD8-909F-47FB-AB5C-06F1AC2658A7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玩家与 AI 的不对称博弈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7DD4C5-4288-49B9-9972-6B7AAD27F019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玩家控制市场供给，AI 控制行动选择，并通过决策点反制玩家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76750" y="1602988"/>
            <a:ext cx="3238500" cy="23185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3EC4D2B-4310-4B7A-ADE8-0918759386DD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14325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03EC9E-CB60-40BA-9E1F-7974345F8A75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66675" cy="16192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F05382-C45D-4AE3-B507-59AE9F746CEC}"/>
              </a:ext>
            </a:extLst>
          </p:cNvPr>
          <p:cNvSpPr>
            <a:spLocks noGrp="1"/>
          </p:cNvSpPr>
          <p:nvPr/>
        </p:nvSpPr>
        <p:spPr>
          <a:xfrm>
            <a:off x="1028700" y="18478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玩家掌握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BF4DD1-15C8-4309-9EDC-3BEC59DD3994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62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商品定价、进货数量、现金流与库存节奏。玩家必须赚钱，但不能让市场生态崩溃。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912FFB-8B67-4086-8487-15F8796D24E0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314325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7909BC-B74F-48F6-80FE-8C047C30D67C}"/>
              </a:ext>
            </a:extLst>
          </p:cNvPr>
          <p:cNvSpPr>
            <a:spLocks noGrp="1"/>
          </p:cNvSpPr>
          <p:nvPr/>
        </p:nvSpPr>
        <p:spPr>
          <a:xfrm>
            <a:off x="8229600" y="1676400"/>
            <a:ext cx="66675" cy="16192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A6B51C-F012-4CCF-B5CC-FD9BD026EA74}"/>
              </a:ext>
            </a:extLst>
          </p:cNvPr>
          <p:cNvSpPr>
            <a:spLocks noGrp="1"/>
          </p:cNvSpPr>
          <p:nvPr/>
        </p:nvSpPr>
        <p:spPr>
          <a:xfrm>
            <a:off x="8439150" y="1847850"/>
            <a:ext cx="2762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AI 掌握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459EC5-CA31-49D3-B89A-0B165E4302A3}"/>
              </a:ext>
            </a:extLst>
          </p:cNvPr>
          <p:cNvSpPr>
            <a:spLocks noGrp="1"/>
          </p:cNvSpPr>
          <p:nvPr/>
        </p:nvSpPr>
        <p:spPr>
          <a:xfrm>
            <a:off x="8439150" y="2209800"/>
            <a:ext cx="2762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行动选择、购买/出售、消费生存品、投机贵重品，并基于记忆与状态持续规划。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A23525-081B-432A-9477-54CC63A4B4DB}"/>
              </a:ext>
            </a:extLst>
          </p:cNvPr>
          <p:cNvSpPr>
            <a:spLocks noGrp="1"/>
          </p:cNvSpPr>
          <p:nvPr/>
        </p:nvSpPr>
        <p:spPr>
          <a:xfrm>
            <a:off x="2171700" y="4495800"/>
            <a:ext cx="7848600" cy="85725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A61C83-D744-4BD3-8A52-1A981606E0C4}"/>
              </a:ext>
            </a:extLst>
          </p:cNvPr>
          <p:cNvSpPr>
            <a:spLocks noGrp="1"/>
          </p:cNvSpPr>
          <p:nvPr/>
        </p:nvSpPr>
        <p:spPr>
          <a:xfrm>
            <a:off x="2381250" y="47053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决策点机制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A7677C-9E7E-44B0-9ED5-89B071A88855}"/>
              </a:ext>
            </a:extLst>
          </p:cNvPr>
          <p:cNvSpPr>
            <a:spLocks noGrp="1"/>
          </p:cNvSpPr>
          <p:nvPr/>
        </p:nvSpPr>
        <p:spPr>
          <a:xfrm>
            <a:off x="3924300" y="474345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锁定商品价格 · 获取价格情报 · 改变后续行动策略 · 让玩家不能只依赖固定定价套路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96450" y="4614282"/>
            <a:ext cx="495300" cy="410737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4E166F0-2DA1-4E5C-B3F1-EECAC4E3638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33BCF5-D108-4FD1-91C3-1827F876FCCC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3575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A6BC0C6-E0F8-4840-8EE9-76F753BB78E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2983DB-180A-4205-9C99-60D1C452576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50A178-8898-4C06-A05B-E559C0373D55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技能模组与随机事件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0B807A-3F1B-462E-A52B-A4F2C3015449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事件和技能都以数据形式进入结算 hook，支撑玩法扩展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651E8C-6C7B-4C02-94D6-062CDCFDC1C7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2324100" cy="31432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FD4C9A-0C8C-43EB-AE78-F8BBCD3554FC}"/>
              </a:ext>
            </a:extLst>
          </p:cNvPr>
          <p:cNvSpPr>
            <a:spLocks noGrp="1"/>
          </p:cNvSpPr>
          <p:nvPr/>
        </p:nvSpPr>
        <p:spPr>
          <a:xfrm>
            <a:off x="990600" y="18478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F29FFF-693A-4986-9A48-D0B307E33FEF}"/>
              </a:ext>
            </a:extLst>
          </p:cNvPr>
          <p:cNvSpPr>
            <a:spLocks noGrp="1"/>
          </p:cNvSpPr>
          <p:nvPr/>
        </p:nvSpPr>
        <p:spPr>
          <a:xfrm>
            <a:off x="1028700" y="25336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06A8EF-6ADD-44B4-B558-1C5E974ABE31}"/>
              </a:ext>
            </a:extLst>
          </p:cNvPr>
          <p:cNvSpPr>
            <a:spLocks noGrp="1"/>
          </p:cNvSpPr>
          <p:nvPr/>
        </p:nvSpPr>
        <p:spPr>
          <a:xfrm>
            <a:off x="1238250" y="24574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林墨墨：手艺人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5D2901-949B-4D2B-9482-F336ACBE5A58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FFE2B2-BC73-451E-89E6-323C99E7F381}"/>
              </a:ext>
            </a:extLst>
          </p:cNvPr>
          <p:cNvSpPr>
            <a:spLocks noGrp="1"/>
          </p:cNvSpPr>
          <p:nvPr/>
        </p:nvSpPr>
        <p:spPr>
          <a:xfrm>
            <a:off x="1238250" y="28765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江凡：平民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72E42F-EDF4-4526-B33B-11C5F5A7B212}"/>
              </a:ext>
            </a:extLst>
          </p:cNvPr>
          <p:cNvSpPr>
            <a:spLocks noGrp="1"/>
          </p:cNvSpPr>
          <p:nvPr/>
        </p:nvSpPr>
        <p:spPr>
          <a:xfrm>
            <a:off x="1028700" y="33718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2BCC70-4D14-494A-9853-DB2572D59167}"/>
              </a:ext>
            </a:extLst>
          </p:cNvPr>
          <p:cNvSpPr>
            <a:spLocks noGrp="1"/>
          </p:cNvSpPr>
          <p:nvPr/>
        </p:nvSpPr>
        <p:spPr>
          <a:xfrm>
            <a:off x="1238250" y="32956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钟启恒：银行家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4CE816-B77C-4ED6-BBF4-31A193379E5D}"/>
              </a:ext>
            </a:extLst>
          </p:cNvPr>
          <p:cNvSpPr>
            <a:spLocks noGrp="1"/>
          </p:cNvSpPr>
          <p:nvPr/>
        </p:nvSpPr>
        <p:spPr>
          <a:xfrm>
            <a:off x="1028700" y="37909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97BD9E-FCA6-41BF-B66E-06B0FADA23A7}"/>
              </a:ext>
            </a:extLst>
          </p:cNvPr>
          <p:cNvSpPr>
            <a:spLocks noGrp="1"/>
          </p:cNvSpPr>
          <p:nvPr/>
        </p:nvSpPr>
        <p:spPr>
          <a:xfrm>
            <a:off x="1238250" y="37147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石老谋：商人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9274D4-336F-4464-8276-A0F4F0A3A576}"/>
              </a:ext>
            </a:extLst>
          </p:cNvPr>
          <p:cNvSpPr>
            <a:spLocks noGrp="1"/>
          </p:cNvSpPr>
          <p:nvPr/>
        </p:nvSpPr>
        <p:spPr>
          <a:xfrm>
            <a:off x="3562350" y="1581150"/>
            <a:ext cx="2324100" cy="31432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EA050A-F083-4B6F-9006-DA74C6AC7CA6}"/>
              </a:ext>
            </a:extLst>
          </p:cNvPr>
          <p:cNvSpPr>
            <a:spLocks noGrp="1"/>
          </p:cNvSpPr>
          <p:nvPr/>
        </p:nvSpPr>
        <p:spPr>
          <a:xfrm>
            <a:off x="3790950" y="18478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343A1B-6A4D-48FA-B7FD-F3C5F4C7DFD4}"/>
              </a:ext>
            </a:extLst>
          </p:cNvPr>
          <p:cNvSpPr>
            <a:spLocks noGrp="1"/>
          </p:cNvSpPr>
          <p:nvPr/>
        </p:nvSpPr>
        <p:spPr>
          <a:xfrm>
            <a:off x="3829050" y="25336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7DD15B-6634-4307-A4A9-02D6FB981BFD}"/>
              </a:ext>
            </a:extLst>
          </p:cNvPr>
          <p:cNvSpPr>
            <a:spLocks noGrp="1"/>
          </p:cNvSpPr>
          <p:nvPr/>
        </p:nvSpPr>
        <p:spPr>
          <a:xfrm>
            <a:off x="4038600" y="24574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瓶装水 / 面包 / 烤肉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5A2938-D298-43D8-BAE9-2379E22DC952}"/>
              </a:ext>
            </a:extLst>
          </p:cNvPr>
          <p:cNvSpPr>
            <a:spLocks noGrp="1"/>
          </p:cNvSpPr>
          <p:nvPr/>
        </p:nvSpPr>
        <p:spPr>
          <a:xfrm>
            <a:off x="3829050" y="29527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638582-3467-46CF-82E8-270E6B496695}"/>
              </a:ext>
            </a:extLst>
          </p:cNvPr>
          <p:cNvSpPr>
            <a:spLocks noGrp="1"/>
          </p:cNvSpPr>
          <p:nvPr/>
        </p:nvSpPr>
        <p:spPr>
          <a:xfrm>
            <a:off x="4038600" y="28765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银戒指 / 黄金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936DC5-2248-4EFB-877E-810DC6195CC2}"/>
              </a:ext>
            </a:extLst>
          </p:cNvPr>
          <p:cNvSpPr>
            <a:spLocks noGrp="1"/>
          </p:cNvSpPr>
          <p:nvPr/>
        </p:nvSpPr>
        <p:spPr>
          <a:xfrm>
            <a:off x="3829050" y="3371850"/>
            <a:ext cx="85725" cy="85725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AFF037-D555-4A4A-B1F7-E07CD3E4415C}"/>
              </a:ext>
            </a:extLst>
          </p:cNvPr>
          <p:cNvSpPr>
            <a:spLocks noGrp="1"/>
          </p:cNvSpPr>
          <p:nvPr/>
        </p:nvSpPr>
        <p:spPr>
          <a:xfrm>
            <a:off x="4038600" y="32956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消耗品与贵重品分层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49AE3BA-9DF0-4CB2-B4E3-30375C1D3A61}"/>
              </a:ext>
            </a:extLst>
          </p:cNvPr>
          <p:cNvSpPr>
            <a:spLocks noGrp="1"/>
          </p:cNvSpPr>
          <p:nvPr/>
        </p:nvSpPr>
        <p:spPr>
          <a:xfrm>
            <a:off x="6362700" y="1581150"/>
            <a:ext cx="2324100" cy="31432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C072E6C-8BE3-4C64-8B09-93E75C1216CA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随机事件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BDE207-14B4-4FAD-85B7-47D4EC3CDCB1}"/>
              </a:ext>
            </a:extLst>
          </p:cNvPr>
          <p:cNvSpPr>
            <a:spLocks noGrp="1"/>
          </p:cNvSpPr>
          <p:nvPr/>
        </p:nvSpPr>
        <p:spPr>
          <a:xfrm>
            <a:off x="6629400" y="25336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A09BE07-B84C-493E-9BF7-DFD5A8818CB8}"/>
              </a:ext>
            </a:extLst>
          </p:cNvPr>
          <p:cNvSpPr>
            <a:spLocks noGrp="1"/>
          </p:cNvSpPr>
          <p:nvPr/>
        </p:nvSpPr>
        <p:spPr>
          <a:xfrm>
            <a:off x="6838950" y="24574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下雨天：移动消耗增加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DF6FCF-E3A5-45E6-8884-3C7D54C8D727}"/>
              </a:ext>
            </a:extLst>
          </p:cNvPr>
          <p:cNvSpPr>
            <a:spLocks noGrp="1"/>
          </p:cNvSpPr>
          <p:nvPr/>
        </p:nvSpPr>
        <p:spPr>
          <a:xfrm>
            <a:off x="6629400" y="2952750"/>
            <a:ext cx="85725" cy="85725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FAC6D2A-7983-4382-A031-B84D569837C6}"/>
              </a:ext>
            </a:extLst>
          </p:cNvPr>
          <p:cNvSpPr>
            <a:spLocks noGrp="1"/>
          </p:cNvSpPr>
          <p:nvPr/>
        </p:nvSpPr>
        <p:spPr>
          <a:xfrm>
            <a:off x="6838950" y="28765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过路费：移动扣除现金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EEC3BB-303E-4E35-B28B-33785C29BD4A}"/>
              </a:ext>
            </a:extLst>
          </p:cNvPr>
          <p:cNvSpPr>
            <a:spLocks noGrp="1"/>
          </p:cNvSpPr>
          <p:nvPr/>
        </p:nvSpPr>
        <p:spPr>
          <a:xfrm>
            <a:off x="9163050" y="1581150"/>
            <a:ext cx="2324100" cy="31432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99D066-32AE-4B1F-BEAB-CB6CFFFE9B41}"/>
              </a:ext>
            </a:extLst>
          </p:cNvPr>
          <p:cNvSpPr>
            <a:spLocks noGrp="1"/>
          </p:cNvSpPr>
          <p:nvPr/>
        </p:nvSpPr>
        <p:spPr>
          <a:xfrm>
            <a:off x="9391650" y="18478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72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技能模组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6BC65DD-0AD5-4E6D-8C9D-9F7E06D60DA2}"/>
              </a:ext>
            </a:extLst>
          </p:cNvPr>
          <p:cNvSpPr>
            <a:spLocks noGrp="1"/>
          </p:cNvSpPr>
          <p:nvPr/>
        </p:nvSpPr>
        <p:spPr>
          <a:xfrm>
            <a:off x="9429750" y="2533650"/>
            <a:ext cx="85725" cy="85725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5E213EB-1D89-430D-918C-BF710A60D839}"/>
              </a:ext>
            </a:extLst>
          </p:cNvPr>
          <p:cNvSpPr>
            <a:spLocks noGrp="1"/>
          </p:cNvSpPr>
          <p:nvPr/>
        </p:nvSpPr>
        <p:spPr>
          <a:xfrm>
            <a:off x="9639300" y="24574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利滚利：回合结算触发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40A14D-8835-47BE-B24E-FB24BC9D9431}"/>
              </a:ext>
            </a:extLst>
          </p:cNvPr>
          <p:cNvSpPr>
            <a:spLocks noGrp="1"/>
          </p:cNvSpPr>
          <p:nvPr/>
        </p:nvSpPr>
        <p:spPr>
          <a:xfrm>
            <a:off x="9429750" y="2952750"/>
            <a:ext cx="85725" cy="85725"/>
          </a:xfrm>
          <a:prstGeom prst="rect">
            <a:avLst/>
          </a:prstGeom>
          <a:solidFill>
            <a:srgbClr val="7045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26B4A0-304E-4B60-9481-7C7A890B92C2}"/>
              </a:ext>
            </a:extLst>
          </p:cNvPr>
          <p:cNvSpPr>
            <a:spLocks noGrp="1"/>
          </p:cNvSpPr>
          <p:nvPr/>
        </p:nvSpPr>
        <p:spPr>
          <a:xfrm>
            <a:off x="9639300" y="2876550"/>
            <a:ext cx="1600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通过 hooks 接入规则系统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F8F835-1691-4D45-9E93-1B236ED2D309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953500" cy="457200"/>
          </a:xfrm>
          <a:prstGeom prst="rect">
            <a:avLst/>
          </a:prstGeom>
          <a:solidFill>
            <a:srgbClr val="F2DEBA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ED03FDC-25C9-4946-BE38-C9261C3CF58A}"/>
              </a:ext>
            </a:extLst>
          </p:cNvPr>
          <p:cNvSpPr>
            <a:spLocks noGrp="1"/>
          </p:cNvSpPr>
          <p:nvPr/>
        </p:nvSpPr>
        <p:spPr>
          <a:xfrm>
            <a:off x="1847850" y="5353050"/>
            <a:ext cx="849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答辩价值：内容配置与运行状态分离，新增技能或事件时主要修改数据与 hook，不侵入 Agent 主循环。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062CFB1-5F0D-4503-9607-1FF93B40EE23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BA927F-4185-426D-926D-4246169EF4FC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068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3F8D17-427E-462F-85FC-F7B9FF5298D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4BB93F-102F-4756-A427-A3A0AF64967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D6D6E6-CD9B-4AEF-9F73-750299DA92C6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Unity 前端：把后端状态变成可操作界面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4E6594-0E46-45F2-B810-6B0FFE951149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前端不是装饰层，而是玩家输入和动作反馈的执行层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81850" y="1468121"/>
            <a:ext cx="3429000" cy="245490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6A373D-CF32-4307-B5E7-401819C3475A}"/>
              </a:ext>
            </a:extLst>
          </p:cNvPr>
          <p:cNvSpPr>
            <a:spLocks noGrp="1"/>
          </p:cNvSpPr>
          <p:nvPr/>
        </p:nvSpPr>
        <p:spPr>
          <a:xfrm>
            <a:off x="819150" y="1428750"/>
            <a:ext cx="5334000" cy="346710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DC739E-2A60-434E-B44E-17AFA5BA476A}"/>
              </a:ext>
            </a:extLst>
          </p:cNvPr>
          <p:cNvSpPr>
            <a:spLocks noGrp="1"/>
          </p:cNvSpPr>
          <p:nvPr/>
        </p:nvSpPr>
        <p:spPr>
          <a:xfrm>
            <a:off x="1162050" y="16954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已实现交互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B09BE1-E3B6-4B60-B3B6-655BDE949CD7}"/>
              </a:ext>
            </a:extLst>
          </p:cNvPr>
          <p:cNvSpPr>
            <a:spLocks noGrp="1"/>
          </p:cNvSpPr>
          <p:nvPr/>
        </p:nvSpPr>
        <p:spPr>
          <a:xfrm>
            <a:off x="1200150" y="24193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7C16BC-E137-4976-B248-1B515111CF3E}"/>
              </a:ext>
            </a:extLst>
          </p:cNvPr>
          <p:cNvSpPr>
            <a:spLocks noGrp="1"/>
          </p:cNvSpPr>
          <p:nvPr/>
        </p:nvSpPr>
        <p:spPr>
          <a:xfrm>
            <a:off x="1409700" y="2343150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商店库存界面：商品、价格、库存、进货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A010C-613D-45D0-A8AB-13F3A065D469}"/>
              </a:ext>
            </a:extLst>
          </p:cNvPr>
          <p:cNvSpPr>
            <a:spLocks noGrp="1"/>
          </p:cNvSpPr>
          <p:nvPr/>
        </p:nvSpPr>
        <p:spPr>
          <a:xfrm>
            <a:off x="1200150" y="28194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881979-EE12-4B3C-A194-E1D5A3B88F65}"/>
              </a:ext>
            </a:extLst>
          </p:cNvPr>
          <p:cNvSpPr>
            <a:spLocks noGrp="1"/>
          </p:cNvSpPr>
          <p:nvPr/>
        </p:nvSpPr>
        <p:spPr>
          <a:xfrm>
            <a:off x="1409700" y="2743200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玩家资金：当前资金与当日收入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46ADA0-D0DA-4A93-85C7-8085277894A6}"/>
              </a:ext>
            </a:extLst>
          </p:cNvPr>
          <p:cNvSpPr>
            <a:spLocks noGrp="1"/>
          </p:cNvSpPr>
          <p:nvPr/>
        </p:nvSpPr>
        <p:spPr>
          <a:xfrm>
            <a:off x="1200150" y="32194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62E5A8-6C5D-4765-9C7A-D5B2437F2F29}"/>
              </a:ext>
            </a:extLst>
          </p:cNvPr>
          <p:cNvSpPr>
            <a:spLocks noGrp="1"/>
          </p:cNvSpPr>
          <p:nvPr/>
        </p:nvSpPr>
        <p:spPr>
          <a:xfrm>
            <a:off x="1409700" y="3143250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AI 状态面板：饥饿、水分、精神、资金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AE3258-208E-44BC-82FB-4FBCED2AB8F3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7B263A-9BB5-4E5E-B5FE-268E55D87CBB}"/>
              </a:ext>
            </a:extLst>
          </p:cNvPr>
          <p:cNvSpPr>
            <a:spLocks noGrp="1"/>
          </p:cNvSpPr>
          <p:nvPr/>
        </p:nvSpPr>
        <p:spPr>
          <a:xfrm>
            <a:off x="1409700" y="3543300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消息流：交易、事件、决策点反馈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7470E2-1220-4035-A3A1-AF6F780534E8}"/>
              </a:ext>
            </a:extLst>
          </p:cNvPr>
          <p:cNvSpPr>
            <a:spLocks noGrp="1"/>
          </p:cNvSpPr>
          <p:nvPr/>
        </p:nvSpPr>
        <p:spPr>
          <a:xfrm>
            <a:off x="1200150" y="4019550"/>
            <a:ext cx="85725" cy="85725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87FA54-B258-462D-9220-10E5C54EA5B3}"/>
              </a:ext>
            </a:extLst>
          </p:cNvPr>
          <p:cNvSpPr>
            <a:spLocks noGrp="1"/>
          </p:cNvSpPr>
          <p:nvPr/>
        </p:nvSpPr>
        <p:spPr>
          <a:xfrm>
            <a:off x="1409700" y="3943350"/>
            <a:ext cx="417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回合动画：开始、结束、游戏胜负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2B6A98-7681-4988-9D01-069FF32094C8}"/>
              </a:ext>
            </a:extLst>
          </p:cNvPr>
          <p:cNvSpPr>
            <a:spLocks noGrp="1"/>
          </p:cNvSpPr>
          <p:nvPr/>
        </p:nvSpPr>
        <p:spPr>
          <a:xfrm>
            <a:off x="6858000" y="4343400"/>
            <a:ext cx="4095750" cy="800100"/>
          </a:xfrm>
          <a:prstGeom prst="rect">
            <a:avLst/>
          </a:prstGeom>
          <a:solidFill>
            <a:srgbClr val="FFF8E8">
              <a:alpha val="90980"/>
            </a:srgbClr>
          </a:solidFill>
          <a:ln w="11430">
            <a:solidFill>
              <a:srgbClr val="C6963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A864C3-D49E-4C43-B08C-1F148E1FA735}"/>
              </a:ext>
            </a:extLst>
          </p:cNvPr>
          <p:cNvSpPr>
            <a:spLocks noGrp="1"/>
          </p:cNvSpPr>
          <p:nvPr/>
        </p:nvSpPr>
        <p:spPr>
          <a:xfrm>
            <a:off x="7086600" y="4533900"/>
            <a:ext cx="3638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Unity 侧通过 WsAgentClient 接收 command，并在动作完成后发送 complete 回执，保证后端决策链可继续推进。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D807E5-11BF-43B6-8D55-977014A4581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BB00F6F-8C7B-4C45-A61B-763555FA137E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7268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C0D83A-4460-4C55-8D1A-7315ADD82A0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85725" cy="5143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D4BDD0-1B8C-4999-8EFF-EE44ECDCEBC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514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C384D1-B0E7-41C5-95A2-B7058CA27001}"/>
              </a:ext>
            </a:extLst>
          </p:cNvPr>
          <p:cNvSpPr>
            <a:spLocks noGrp="1"/>
          </p:cNvSpPr>
          <p:nvPr/>
        </p:nvSpPr>
        <p:spPr>
          <a:xfrm>
            <a:off x="1162050" y="247650"/>
            <a:ext cx="647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0D9522-B121-40BB-B0D1-3A6E34447F28}"/>
              </a:ext>
            </a:extLst>
          </p:cNvPr>
          <p:cNvSpPr>
            <a:spLocks noGrp="1"/>
          </p:cNvSpPr>
          <p:nvPr/>
        </p:nvSpPr>
        <p:spPr>
          <a:xfrm>
            <a:off x="1162050" y="628650"/>
            <a:ext cx="7810500" cy="295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项目价值在于把 LLM 放进有状态、有规则、有反馈的运行系统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546948-1875-41C7-A4B1-73EFAB489CAD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1ACBFD-EBE8-44C4-BB45-7270AC87F7A1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66675" cy="1619250"/>
          </a:xfrm>
          <a:prstGeom prst="rect">
            <a:avLst/>
          </a:prstGeom>
          <a:solidFill>
            <a:srgbClr val="A340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A0B3BF-2249-4009-A1B7-75405032B6A0}"/>
              </a:ext>
            </a:extLst>
          </p:cNvPr>
          <p:cNvSpPr>
            <a:spLocks noGrp="1"/>
          </p:cNvSpPr>
          <p:nvPr/>
        </p:nvSpPr>
        <p:spPr>
          <a:xfrm>
            <a:off x="1047750" y="1714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77C370-A98E-43D3-B20F-BC140C13D870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LLM Agent 决策闭环、Unity 可视化执行、动作校验、市场结算、玩家商店阶段、随机事件与胜负判断。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BA4FDE-154B-442A-93ED-209BB9064234}"/>
              </a:ext>
            </a:extLst>
          </p:cNvPr>
          <p:cNvSpPr>
            <a:spLocks noGrp="1"/>
          </p:cNvSpPr>
          <p:nvPr/>
        </p:nvSpPr>
        <p:spPr>
          <a:xfrm>
            <a:off x="4476750" y="1543050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215494-629B-4C16-80B5-2F5CA0A7D429}"/>
              </a:ext>
            </a:extLst>
          </p:cNvPr>
          <p:cNvSpPr>
            <a:spLocks noGrp="1"/>
          </p:cNvSpPr>
          <p:nvPr/>
        </p:nvSpPr>
        <p:spPr>
          <a:xfrm>
            <a:off x="4476750" y="1543050"/>
            <a:ext cx="66675" cy="1619250"/>
          </a:xfrm>
          <a:prstGeom prst="rect">
            <a:avLst/>
          </a:prstGeom>
          <a:solidFill>
            <a:srgbClr val="355F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FAD5D9-5A87-4121-8A77-9C211F0EE19F}"/>
              </a:ext>
            </a:extLst>
          </p:cNvPr>
          <p:cNvSpPr>
            <a:spLocks noGrp="1"/>
          </p:cNvSpPr>
          <p:nvPr/>
        </p:nvSpPr>
        <p:spPr>
          <a:xfrm>
            <a:off x="4686300" y="1714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55F4C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7EEF3D-A679-4482-81F5-759FA68081D6}"/>
              </a:ext>
            </a:extLst>
          </p:cNvPr>
          <p:cNvSpPr>
            <a:spLocks noGrp="1"/>
          </p:cNvSpPr>
          <p:nvPr/>
        </p:nvSpPr>
        <p:spPr>
          <a:xfrm>
            <a:off x="4686300" y="2076450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从“能回答问题的大模型”转向“能在规则世界中持续行动的 Agent”，并通过玩家经营形成可展示的博弈系统。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0544AD-44C8-4A7D-AC19-B1EE83F6BE46}"/>
              </a:ext>
            </a:extLst>
          </p:cNvPr>
          <p:cNvSpPr>
            <a:spLocks noGrp="1"/>
          </p:cNvSpPr>
          <p:nvPr/>
        </p:nvSpPr>
        <p:spPr>
          <a:xfrm>
            <a:off x="8115300" y="1543050"/>
            <a:ext cx="3238500" cy="1619250"/>
          </a:xfrm>
          <a:prstGeom prst="rect">
            <a:avLst/>
          </a:prstGeom>
          <a:solidFill>
            <a:srgbClr val="FFFFFF">
              <a:alpha val="90980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7D8B70-1F20-42CE-992A-DA64CA1445BB}"/>
              </a:ext>
            </a:extLst>
          </p:cNvPr>
          <p:cNvSpPr>
            <a:spLocks noGrp="1"/>
          </p:cNvSpPr>
          <p:nvPr/>
        </p:nvSpPr>
        <p:spPr>
          <a:xfrm>
            <a:off x="8115300" y="1543050"/>
            <a:ext cx="66675" cy="1619250"/>
          </a:xfrm>
          <a:prstGeom prst="rect">
            <a:avLst/>
          </a:prstGeom>
          <a:solidFill>
            <a:srgbClr val="C696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0A633E-554B-4DE3-B486-9EE849F0031A}"/>
              </a:ext>
            </a:extLst>
          </p:cNvPr>
          <p:cNvSpPr>
            <a:spLocks noGrp="1"/>
          </p:cNvSpPr>
          <p:nvPr/>
        </p:nvSpPr>
        <p:spPr>
          <a:xfrm>
            <a:off x="8324850" y="1714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D96A1D-E801-4181-8505-D875E44369F6}"/>
              </a:ext>
            </a:extLst>
          </p:cNvPr>
          <p:cNvSpPr>
            <a:spLocks noGrp="1"/>
          </p:cNvSpPr>
          <p:nvPr/>
        </p:nvSpPr>
        <p:spPr>
          <a:xfrm>
            <a:off x="8324850" y="2076450"/>
            <a:ext cx="2857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经济参数仍以经验调参为主；Agent 策略稳定性受模型影响；场景规模和内容数量仍有扩展空间。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BC6F57-F1D5-4557-856D-70603F784E18}"/>
              </a:ext>
            </a:extLst>
          </p:cNvPr>
          <p:cNvSpPr>
            <a:spLocks noGrp="1"/>
          </p:cNvSpPr>
          <p:nvPr/>
        </p:nvSpPr>
        <p:spPr>
          <a:xfrm>
            <a:off x="1504950" y="4000500"/>
            <a:ext cx="9182100" cy="933450"/>
          </a:xfrm>
          <a:prstGeom prst="rect">
            <a:avLst/>
          </a:prstGeom>
          <a:solidFill>
            <a:srgbClr val="FFFFFF">
              <a:alpha val="85098"/>
            </a:srgbClr>
          </a:solidFill>
          <a:ln w="11430">
            <a:solidFill>
              <a:srgbClr val="D4B57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185EFCD-F4DC-4E22-8E6C-FF43CAF061EB}"/>
              </a:ext>
            </a:extLst>
          </p:cNvPr>
          <p:cNvSpPr>
            <a:spLocks noGrp="1"/>
          </p:cNvSpPr>
          <p:nvPr/>
        </p:nvSpPr>
        <p:spPr>
          <a:xfrm>
            <a:off x="1809750" y="42672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D38A2C-46B2-4719-BB7B-3E54C91BDD07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701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2819"/>
                </a:solidFill>
                <a:latin typeface="Microsoft YaHei"/>
                <a:ea typeface="Microsoft YaHei"/>
                <a:cs typeface="Microsoft YaHei"/>
              </a:rPr>
              <a:t>更丰富的职业技能 · 长期记忆 · 自动化回放测试 · 策略评估指标 · 更大规模小镇场景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5242218"/>
            <a:ext cx="723900" cy="697914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C275B5D4-CE7A-49D3-B937-4691E1E2CB5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6A53"/>
                </a:solidFill>
                <a:latin typeface="Microsoft YaHei"/>
                <a:ea typeface="Microsoft YaHei"/>
                <a:cs typeface="Microsoft YaHei"/>
              </a:rPr>
              <a:t>GreedTown · LLM Agent 经营博弈系统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C33205-3AA3-406A-B7E6-A821F13F811F}"/>
              </a:ext>
            </a:extLst>
          </p:cNvPr>
          <p:cNvSpPr>
            <a:spLocks noGrp="1"/>
          </p:cNvSpPr>
          <p:nvPr/>
        </p:nvSpPr>
        <p:spPr>
          <a:xfrm>
            <a:off x="11315700" y="6429375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48311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Microsoft Office PowerPoint</Application>
  <DocSecurity>0</DocSecurity>
  <PresentationFormat>宽屏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Microsoft YaHei</vt:lpstr>
      <vt:lpstr>Calibri</vt:lpstr>
      <vt:lpstr>Cambria Math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 益</cp:lastModifiedBy>
  <cp:revision>1</cp:revision>
  <dcterms:created xsi:type="dcterms:W3CDTF">2026-05-27T01:23:47Z</dcterms:created>
  <dcterms:modified xsi:type="dcterms:W3CDTF">2026-05-27T02:09:28Z</dcterms:modified>
</cp:coreProperties>
</file>